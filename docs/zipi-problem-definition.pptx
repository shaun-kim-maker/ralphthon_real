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  <p:sldId id="268" r:id="rId13"/>
    <p:sldId id="266" r:id="rId14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08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0" y="2560320"/>
            <a:ext cx="182880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834640"/>
            <a:ext cx="11887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600"/>
              </a:lnSpc>
              <a:spcAft>
                <a:spcPts val="0"/>
              </a:spcAft>
              <a:defRPr sz="4400" b="1">
                <a:solidFill>
                  <a:srgbClr val="FFFFFF"/>
                </a:solidFill>
                <a:latin typeface="Pretendard"/>
              </a:defRPr>
            </a:pPr>
            <a:r>
              <a:t>모두가 만들 수 있는 시대,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11887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600"/>
              </a:lnSpc>
              <a:spcAft>
                <a:spcPts val="0"/>
              </a:spcAft>
              <a:defRPr sz="4400" b="1">
                <a:solidFill>
                  <a:srgbClr val="60A5FA"/>
                </a:solidFill>
                <a:latin typeface="Pretendard"/>
              </a:defRPr>
            </a:pPr>
            <a:r>
              <a:t>파는 사람의 기억력이 병목이 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303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spcAft>
                <a:spcPts val="0"/>
              </a:spcAft>
              <a:defRPr sz="2000" b="0">
                <a:solidFill>
                  <a:srgbClr val="9CA3AF"/>
                </a:solidFill>
                <a:latin typeface="Pretendard"/>
              </a:defRPr>
            </a:pPr>
            <a:r>
              <a:t>Zipi  |  知彼知己 百戰百勝  |  Problem Definition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400" b="1">
                <a:solidFill>
                  <a:srgbClr val="60A5FA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0584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40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Pretendard"/>
              </a:defRPr>
            </a:pPr>
            <a:r>
              <a:t>시대 전환 — 모두가 빌더가 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137160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spcAft>
                <a:spcPts val="400"/>
              </a:spcAft>
              <a:defRPr sz="2000" b="1">
                <a:solidFill>
                  <a:srgbClr val="60A5FA"/>
                </a:solidFill>
                <a:latin typeface="Pretendard"/>
              </a:defRPr>
            </a:pPr>
            <a:r>
              <a:t>Andrej Karpathy:</a:t>
            </a:r>
          </a:p>
          <a:p>
            <a:pPr>
              <a:lnSpc>
                <a:spcPts val="3000"/>
              </a:lnSpc>
              <a:spcAft>
                <a:spcPts val="400"/>
              </a:spcAft>
              <a:defRPr sz="2000" b="0">
                <a:solidFill>
                  <a:srgbClr val="FFFFFF"/>
                </a:solidFill>
                <a:latin typeface="Pretendard"/>
              </a:defRPr>
            </a:pPr>
            <a:r>
              <a:t>제품 완성도 90% → 99% → 99.9%로 고도화</a:t>
            </a:r>
          </a:p>
          <a:p>
            <a:pPr>
              <a:lnSpc>
                <a:spcPts val="15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Pretendard"/>
              </a:defRPr>
            </a:pPr>
            <a:endParaRPr/>
          </a:p>
          <a:p>
            <a:pPr>
              <a:lnSpc>
                <a:spcPts val="3000"/>
              </a:lnSpc>
              <a:spcAft>
                <a:spcPts val="400"/>
              </a:spcAft>
              <a:defRPr sz="2000" b="0">
                <a:solidFill>
                  <a:srgbClr val="D1D5DB"/>
                </a:solidFill>
                <a:latin typeface="Pretendard"/>
              </a:defRPr>
            </a:pPr>
            <a:r>
              <a:t>AI 에이전트가 만들고, 코드를 짜고, 배포한다.</a:t>
            </a:r>
          </a:p>
          <a:p>
            <a:pPr>
              <a:lnSpc>
                <a:spcPts val="3300"/>
              </a:lnSpc>
              <a:spcAft>
                <a:spcPts val="400"/>
              </a:spcAft>
              <a:defRPr sz="2200" b="1">
                <a:solidFill>
                  <a:srgbClr val="FFFFFF"/>
                </a:solidFill>
                <a:latin typeface="Pretendard"/>
              </a:defRPr>
            </a:pPr>
            <a:r>
              <a:t>빌딩은 더 이상 병목이 아니다.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286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spcAft>
                <a:spcPts val="400"/>
              </a:spcAft>
              <a:defRPr sz="2000" b="1">
                <a:solidFill>
                  <a:srgbClr val="F87171"/>
                </a:solidFill>
                <a:latin typeface="Pretendard"/>
              </a:defRPr>
            </a:pPr>
            <a:r>
              <a:t>그런데 우리가 간과한 것:</a:t>
            </a:r>
          </a:p>
          <a:p>
            <a:pPr>
              <a:lnSpc>
                <a:spcPts val="15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Pretendard"/>
              </a:defRPr>
            </a:pPr>
            <a:endParaRPr/>
          </a:p>
          <a:p>
            <a:pPr>
              <a:lnSpc>
                <a:spcPts val="3000"/>
              </a:lnSpc>
              <a:spcAft>
                <a:spcPts val="400"/>
              </a:spcAft>
              <a:defRPr sz="2000" b="0">
                <a:solidFill>
                  <a:srgbClr val="FFFFFF"/>
                </a:solidFill>
                <a:latin typeface="Pretendard"/>
              </a:defRPr>
            </a:pPr>
            <a:r>
              <a:t>좋은 제품은 저절로 팔리지 않는다.</a:t>
            </a:r>
          </a:p>
          <a:p>
            <a:pPr>
              <a:lnSpc>
                <a:spcPts val="3300"/>
              </a:lnSpc>
              <a:spcAft>
                <a:spcPts val="400"/>
              </a:spcAft>
              <a:defRPr sz="2200" b="1">
                <a:solidFill>
                  <a:srgbClr val="FFFFFF"/>
                </a:solidFill>
                <a:latin typeface="Pretendard"/>
              </a:defRPr>
            </a:pPr>
            <a:r>
              <a:t>파는 법은 제품력만큼 중요하다.</a:t>
            </a:r>
          </a:p>
          <a:p>
            <a:pPr>
              <a:lnSpc>
                <a:spcPts val="15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Pretendard"/>
              </a:defRPr>
            </a:pPr>
            <a:endParaRPr/>
          </a:p>
          <a:p>
            <a:pPr>
              <a:lnSpc>
                <a:spcPts val="3000"/>
              </a:lnSpc>
              <a:spcAft>
                <a:spcPts val="400"/>
              </a:spcAft>
              <a:defRPr sz="2000" b="0">
                <a:solidFill>
                  <a:srgbClr val="D1D5DB"/>
                </a:solidFill>
                <a:latin typeface="Pretendard"/>
              </a:defRPr>
            </a:pPr>
            <a:r>
              <a:t>그래서 모두가 세일즈맨이 되어야 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400" b="1">
                <a:solidFill>
                  <a:srgbClr val="60A5FA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0584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40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Pretendard"/>
              </a:defRPr>
            </a:pPr>
            <a:r>
              <a:t>왜 하필 세일즈가 병목인가?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137160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spcAft>
                <a:spcPts val="400"/>
              </a:spcAft>
              <a:defRPr sz="2000" b="0">
                <a:solidFill>
                  <a:srgbClr val="D1D5DB"/>
                </a:solidFill>
                <a:latin typeface="Pretendard"/>
              </a:defRPr>
            </a:pPr>
            <a:r>
              <a:t>빌딩 민주화 이후, 경쟁은 치열해진다.</a:t>
            </a:r>
          </a:p>
          <a:p>
            <a:pPr>
              <a:lnSpc>
                <a:spcPts val="3000"/>
              </a:lnSpc>
              <a:spcAft>
                <a:spcPts val="400"/>
              </a:spcAft>
              <a:defRPr sz="2000" b="0">
                <a:solidFill>
                  <a:srgbClr val="D1D5DB"/>
                </a:solidFill>
                <a:latin typeface="Pretendard"/>
              </a:defRPr>
            </a:pPr>
            <a:r>
              <a:t>디자인, 브랜딩, 유통 모두 병목 후보다.</a:t>
            </a:r>
          </a:p>
          <a:p>
            <a:pPr>
              <a:lnSpc>
                <a:spcPts val="15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Pretendard"/>
              </a:defRPr>
            </a:pPr>
            <a:endParaRPr/>
          </a:p>
          <a:p>
            <a:pPr>
              <a:lnSpc>
                <a:spcPts val="3000"/>
              </a:lnSpc>
              <a:spcAft>
                <a:spcPts val="400"/>
              </a:spcAft>
              <a:defRPr sz="2000" b="1">
                <a:solidFill>
                  <a:srgbClr val="60A5FA"/>
                </a:solidFill>
                <a:latin typeface="Pretendard"/>
              </a:defRPr>
            </a:pPr>
            <a:r>
              <a:t>하지만 B2B 복합제품 영역에서는:</a:t>
            </a:r>
          </a:p>
          <a:p>
            <a:pPr>
              <a:lnSpc>
                <a:spcPts val="15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Pretendard"/>
              </a:defRPr>
            </a:pPr>
            <a:endParaRPr/>
          </a:p>
          <a:p>
            <a:pPr>
              <a:lnSpc>
                <a:spcPts val="3000"/>
              </a:lnSpc>
              <a:spcAft>
                <a:spcPts val="400"/>
              </a:spcAft>
              <a:defRPr sz="2000" b="0">
                <a:solidFill>
                  <a:srgbClr val="FFFFFF"/>
                </a:solidFill>
                <a:latin typeface="Pretendard"/>
              </a:defRPr>
            </a:pPr>
            <a:r>
              <a:t>  의사결정자가 여러 명이고,</a:t>
            </a:r>
          </a:p>
          <a:p>
            <a:pPr>
              <a:lnSpc>
                <a:spcPts val="3000"/>
              </a:lnSpc>
              <a:spcAft>
                <a:spcPts val="400"/>
              </a:spcAft>
              <a:defRPr sz="2000" b="0">
                <a:solidFill>
                  <a:srgbClr val="FFFFFF"/>
                </a:solidFill>
                <a:latin typeface="Pretendard"/>
              </a:defRPr>
            </a:pPr>
            <a:r>
              <a:t>  요구사항이 복잡하게 얽혀 있고,</a:t>
            </a:r>
          </a:p>
          <a:p>
            <a:pPr>
              <a:lnSpc>
                <a:spcPts val="3000"/>
              </a:lnSpc>
              <a:spcAft>
                <a:spcPts val="400"/>
              </a:spcAft>
              <a:defRPr sz="2000" b="0">
                <a:solidFill>
                  <a:srgbClr val="FFFFFF"/>
                </a:solidFill>
                <a:latin typeface="Pretendard"/>
              </a:defRPr>
            </a:pPr>
            <a:r>
              <a:t>  협상 과정에서 맥락이 누적된다.</a:t>
            </a:r>
          </a:p>
          <a:p>
            <a:pPr>
              <a:lnSpc>
                <a:spcPts val="15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Pretendard"/>
              </a:defRPr>
            </a:pPr>
            <a:endParaRPr/>
          </a:p>
          <a:p>
            <a:pPr>
              <a:lnSpc>
                <a:spcPts val="2700"/>
              </a:lnSpc>
              <a:spcAft>
                <a:spcPts val="400"/>
              </a:spcAft>
              <a:defRPr sz="1800" b="0">
                <a:solidFill>
                  <a:srgbClr val="9CA3AF"/>
                </a:solidFill>
                <a:latin typeface="Pretendard"/>
              </a:defRPr>
            </a:pPr>
            <a:r>
              <a:t>이 영역에서 PLG나 마케팅은 한계가 있다.</a:t>
            </a:r>
          </a:p>
          <a:p>
            <a:pPr>
              <a:lnSpc>
                <a:spcPts val="3300"/>
              </a:lnSpc>
              <a:spcAft>
                <a:spcPts val="400"/>
              </a:spcAft>
              <a:defRPr sz="2200" b="1">
                <a:solidFill>
                  <a:srgbClr val="FFFFFF"/>
                </a:solidFill>
                <a:latin typeface="Pretendard"/>
              </a:defRPr>
            </a:pPr>
            <a:r>
              <a:t>결국 사람이 만나서, 기억하고, 설득해야 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28600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spcAft>
                <a:spcPts val="400"/>
              </a:spcAft>
              <a:defRPr sz="2000" b="0">
                <a:solidFill>
                  <a:srgbClr val="D1D5DB"/>
                </a:solidFill>
                <a:latin typeface="Pretendard"/>
              </a:defRPr>
            </a:pPr>
            <a:r>
              <a:t>마케팅 콘텐츠도 AI가 만든다면,</a:t>
            </a:r>
          </a:p>
          <a:p>
            <a:pPr>
              <a:lnSpc>
                <a:spcPts val="3300"/>
              </a:lnSpc>
              <a:spcAft>
                <a:spcPts val="400"/>
              </a:spcAft>
              <a:defRPr sz="2200" b="1">
                <a:solidFill>
                  <a:srgbClr val="FFFFFF"/>
                </a:solidFill>
                <a:latin typeface="Pretendard"/>
              </a:defRPr>
            </a:pPr>
            <a:r>
              <a:t>신뢰는 어디서 오는가?</a:t>
            </a:r>
          </a:p>
          <a:p>
            <a:pPr>
              <a:lnSpc>
                <a:spcPts val="15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Pretendard"/>
              </a:defRPr>
            </a:pPr>
            <a:endParaRPr/>
          </a:p>
          <a:p>
            <a:pPr>
              <a:lnSpc>
                <a:spcPts val="2700"/>
              </a:lnSpc>
              <a:spcAft>
                <a:spcPts val="400"/>
              </a:spcAft>
              <a:defRPr sz="1800" b="0">
                <a:solidFill>
                  <a:srgbClr val="9CA3AF"/>
                </a:solidFill>
                <a:latin typeface="Pretendard"/>
              </a:defRPr>
            </a:pPr>
            <a:r>
              <a:t>리뷰 플랫폼? 조작 가능하다.</a:t>
            </a:r>
          </a:p>
          <a:p>
            <a:pPr>
              <a:lnSpc>
                <a:spcPts val="2700"/>
              </a:lnSpc>
              <a:spcAft>
                <a:spcPts val="400"/>
              </a:spcAft>
              <a:defRPr sz="1800" b="0">
                <a:solidFill>
                  <a:srgbClr val="9CA3AF"/>
                </a:solidFill>
                <a:latin typeface="Pretendard"/>
              </a:defRPr>
            </a:pPr>
            <a:r>
              <a:t>커뮤니티? 시간이 오래 걸린다.</a:t>
            </a:r>
          </a:p>
          <a:p>
            <a:pPr>
              <a:lnSpc>
                <a:spcPts val="2700"/>
              </a:lnSpc>
              <a:spcAft>
                <a:spcPts val="400"/>
              </a:spcAft>
              <a:defRPr sz="1800" b="0">
                <a:solidFill>
                  <a:srgbClr val="9CA3AF"/>
                </a:solidFill>
                <a:latin typeface="Pretendard"/>
              </a:defRPr>
            </a:pPr>
            <a:r>
              <a:t>PLG? 복합제품엔 한계가 있다.</a:t>
            </a:r>
          </a:p>
          <a:p>
            <a:pPr>
              <a:lnSpc>
                <a:spcPts val="15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Pretendard"/>
              </a:defRPr>
            </a:pPr>
            <a:endParaRPr/>
          </a:p>
          <a:p>
            <a:pPr>
              <a:lnSpc>
                <a:spcPts val="3000"/>
              </a:lnSpc>
              <a:spcAft>
                <a:spcPts val="400"/>
              </a:spcAft>
              <a:defRPr sz="2000" b="1">
                <a:solidFill>
                  <a:srgbClr val="FBBF24"/>
                </a:solidFill>
                <a:latin typeface="Pretendard"/>
              </a:defRPr>
            </a:pPr>
            <a:r>
              <a:t>고가 + 복합 + 다수 의사결정자</a:t>
            </a:r>
          </a:p>
          <a:p>
            <a:pPr>
              <a:lnSpc>
                <a:spcPts val="3000"/>
              </a:lnSpc>
              <a:spcAft>
                <a:spcPts val="400"/>
              </a:spcAft>
              <a:defRPr sz="2000" b="1">
                <a:solidFill>
                  <a:srgbClr val="FBBF24"/>
                </a:solidFill>
                <a:latin typeface="Pretendard"/>
              </a:defRPr>
            </a:pPr>
            <a:r>
              <a:t>= Physical Interaction이 대체 불가능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400" b="1">
                <a:solidFill>
                  <a:srgbClr val="60A5FA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0584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40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Pretendard"/>
              </a:defRPr>
            </a:pPr>
            <a:r>
              <a:t>실제 경험 — Physical AI를 파는 현장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137160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300"/>
              </a:lnSpc>
              <a:spcAft>
                <a:spcPts val="400"/>
              </a:spcAft>
              <a:defRPr sz="2200" b="1">
                <a:solidFill>
                  <a:srgbClr val="FFFFFF"/>
                </a:solidFill>
                <a:latin typeface="Pretendard"/>
              </a:defRPr>
            </a:pPr>
            <a:r>
              <a:t>고객 미팅, 전화에서</a:t>
            </a:r>
          </a:p>
          <a:p>
            <a:pPr>
              <a:lnSpc>
                <a:spcPts val="3600"/>
              </a:lnSpc>
              <a:spcAft>
                <a:spcPts val="400"/>
              </a:spcAft>
              <a:defRPr sz="2400" b="1">
                <a:solidFill>
                  <a:srgbClr val="F87171"/>
                </a:solidFill>
                <a:latin typeface="Pretendard"/>
              </a:defRPr>
            </a:pPr>
            <a:r>
              <a:t>말 한 마디 잘못하면 수천만 원이 오간다.</a:t>
            </a:r>
          </a:p>
          <a:p>
            <a:pPr>
              <a:lnSpc>
                <a:spcPts val="15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Pretendard"/>
              </a:defRPr>
            </a:pPr>
            <a:endParaRPr/>
          </a:p>
          <a:p>
            <a:pPr>
              <a:lnSpc>
                <a:spcPts val="3000"/>
              </a:lnSpc>
              <a:spcAft>
                <a:spcPts val="400"/>
              </a:spcAft>
              <a:defRPr sz="2000" b="0">
                <a:solidFill>
                  <a:srgbClr val="D1D5DB"/>
                </a:solidFill>
                <a:latin typeface="Pretendard"/>
              </a:defRPr>
            </a:pPr>
            <a:r>
              <a:t>팀장님: "시뮬레이터 필요 없습니다."</a:t>
            </a:r>
          </a:p>
          <a:p>
            <a:pPr>
              <a:lnSpc>
                <a:spcPts val="1200"/>
              </a:lnSpc>
              <a:spcAft>
                <a:spcPts val="400"/>
              </a:spcAft>
              <a:defRPr sz="800" b="0">
                <a:solidFill>
                  <a:srgbClr val="FFFFFF"/>
                </a:solidFill>
                <a:latin typeface="Pretendard"/>
              </a:defRPr>
            </a:pPr>
            <a:endParaRPr/>
          </a:p>
          <a:p>
            <a:pPr>
              <a:lnSpc>
                <a:spcPts val="2400"/>
              </a:lnSpc>
              <a:spcAft>
                <a:spcPts val="400"/>
              </a:spcAft>
              <a:defRPr sz="1600" b="0">
                <a:solidFill>
                  <a:srgbClr val="6B7280"/>
                </a:solidFill>
                <a:latin typeface="Pretendard"/>
              </a:defRPr>
            </a:pPr>
            <a:r>
              <a:t>    ↓  CFO에게 보고</a:t>
            </a:r>
          </a:p>
          <a:p>
            <a:pPr>
              <a:lnSpc>
                <a:spcPts val="1200"/>
              </a:lnSpc>
              <a:spcAft>
                <a:spcPts val="400"/>
              </a:spcAft>
              <a:defRPr sz="800" b="0">
                <a:solidFill>
                  <a:srgbClr val="FFFFFF"/>
                </a:solidFill>
                <a:latin typeface="Pretendard"/>
              </a:defRPr>
            </a:pPr>
            <a:endParaRPr/>
          </a:p>
          <a:p>
            <a:pPr>
              <a:lnSpc>
                <a:spcPts val="3000"/>
              </a:lnSpc>
              <a:spcAft>
                <a:spcPts val="400"/>
              </a:spcAft>
              <a:defRPr sz="2000" b="0">
                <a:solidFill>
                  <a:srgbClr val="FBBF24"/>
                </a:solidFill>
                <a:latin typeface="Pretendard"/>
              </a:defRPr>
            </a:pPr>
            <a:r>
              <a:t>CFO: "눈에 보이는 산출물 가져와."</a:t>
            </a:r>
          </a:p>
          <a:p>
            <a:pPr>
              <a:lnSpc>
                <a:spcPts val="1200"/>
              </a:lnSpc>
              <a:spcAft>
                <a:spcPts val="400"/>
              </a:spcAft>
              <a:defRPr sz="800" b="0">
                <a:solidFill>
                  <a:srgbClr val="FFFFFF"/>
                </a:solidFill>
                <a:latin typeface="Pretendard"/>
              </a:defRPr>
            </a:pPr>
            <a:endParaRPr/>
          </a:p>
          <a:p>
            <a:pPr>
              <a:lnSpc>
                <a:spcPts val="2400"/>
              </a:lnSpc>
              <a:spcAft>
                <a:spcPts val="400"/>
              </a:spcAft>
              <a:defRPr sz="1600" b="0">
                <a:solidFill>
                  <a:srgbClr val="6B7280"/>
                </a:solidFill>
                <a:latin typeface="Pretendard"/>
              </a:defRPr>
            </a:pPr>
            <a:r>
              <a:t>    ↓  다시 우리에게</a:t>
            </a:r>
          </a:p>
          <a:p>
            <a:pPr>
              <a:lnSpc>
                <a:spcPts val="1200"/>
              </a:lnSpc>
              <a:spcAft>
                <a:spcPts val="400"/>
              </a:spcAft>
              <a:defRPr sz="800" b="0">
                <a:solidFill>
                  <a:srgbClr val="FFFFFF"/>
                </a:solidFill>
                <a:latin typeface="Pretendard"/>
              </a:defRPr>
            </a:pPr>
            <a:endParaRPr/>
          </a:p>
          <a:p>
            <a:pPr>
              <a:lnSpc>
                <a:spcPts val="3000"/>
              </a:lnSpc>
              <a:spcAft>
                <a:spcPts val="400"/>
              </a:spcAft>
              <a:defRPr sz="2000" b="0">
                <a:solidFill>
                  <a:srgbClr val="F87171"/>
                </a:solidFill>
                <a:latin typeface="Pretendard"/>
              </a:defRPr>
            </a:pPr>
            <a:r>
              <a:t>팀장님: "주신다는 얘기로 이해했는데,</a:t>
            </a:r>
          </a:p>
          <a:p>
            <a:pPr>
              <a:lnSpc>
                <a:spcPts val="3000"/>
              </a:lnSpc>
              <a:spcAft>
                <a:spcPts val="400"/>
              </a:spcAft>
              <a:defRPr sz="2000" b="0">
                <a:solidFill>
                  <a:srgbClr val="F87171"/>
                </a:solidFill>
                <a:latin typeface="Pretendard"/>
              </a:defRPr>
            </a:pPr>
            <a:r>
              <a:t>          맞으시죠?"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286000"/>
            <a:ext cx="5943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300"/>
              </a:lnSpc>
              <a:spcAft>
                <a:spcPts val="400"/>
              </a:spcAft>
              <a:defRPr sz="2200" b="1">
                <a:solidFill>
                  <a:srgbClr val="FFFFFF"/>
                </a:solidFill>
                <a:latin typeface="Pretendard"/>
              </a:defRPr>
            </a:pPr>
            <a:r>
              <a:t>우리 제품은 복잡하다.</a:t>
            </a:r>
          </a:p>
          <a:p>
            <a:pPr>
              <a:lnSpc>
                <a:spcPts val="15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Pretendard"/>
              </a:defRPr>
            </a:pPr>
            <a:endParaRPr/>
          </a:p>
          <a:p>
            <a:pPr>
              <a:lnSpc>
                <a:spcPts val="3000"/>
              </a:lnSpc>
              <a:spcAft>
                <a:spcPts val="400"/>
              </a:spcAft>
              <a:defRPr sz="2000" b="0">
                <a:solidFill>
                  <a:srgbClr val="D1D5DB"/>
                </a:solidFill>
                <a:latin typeface="Pretendard"/>
              </a:defRPr>
            </a:pPr>
            <a:r>
              <a:t>시뮬레이터를 줄 것인가?</a:t>
            </a:r>
          </a:p>
          <a:p>
            <a:pPr>
              <a:lnSpc>
                <a:spcPts val="3000"/>
              </a:lnSpc>
              <a:spcAft>
                <a:spcPts val="400"/>
              </a:spcAft>
              <a:defRPr sz="2000" b="0">
                <a:solidFill>
                  <a:srgbClr val="D1D5DB"/>
                </a:solidFill>
                <a:latin typeface="Pretendard"/>
              </a:defRPr>
            </a:pPr>
            <a:r>
              <a:t>어느 수준까지 정교화할 것인가?</a:t>
            </a:r>
          </a:p>
          <a:p>
            <a:pPr>
              <a:lnSpc>
                <a:spcPts val="3000"/>
              </a:lnSpc>
              <a:spcAft>
                <a:spcPts val="400"/>
              </a:spcAft>
              <a:defRPr sz="2000" b="0">
                <a:solidFill>
                  <a:srgbClr val="D1D5DB"/>
                </a:solidFill>
                <a:latin typeface="Pretendard"/>
              </a:defRPr>
            </a:pPr>
            <a:r>
              <a:t>소스코드는 포함하는가?</a:t>
            </a:r>
          </a:p>
          <a:p>
            <a:pPr>
              <a:lnSpc>
                <a:spcPts val="3000"/>
              </a:lnSpc>
              <a:spcAft>
                <a:spcPts val="400"/>
              </a:spcAft>
              <a:defRPr sz="2000" b="0">
                <a:solidFill>
                  <a:srgbClr val="D1D5DB"/>
                </a:solidFill>
                <a:latin typeface="Pretendard"/>
              </a:defRPr>
            </a:pPr>
            <a:r>
              <a:t>패키징과 이관은 별도 옵션인가?</a:t>
            </a:r>
          </a:p>
          <a:p>
            <a:pPr>
              <a:lnSpc>
                <a:spcPts val="15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Pretendard"/>
              </a:defRPr>
            </a:pPr>
            <a:endParaRPr/>
          </a:p>
          <a:p>
            <a:pPr>
              <a:lnSpc>
                <a:spcPts val="2700"/>
              </a:lnSpc>
              <a:spcAft>
                <a:spcPts val="400"/>
              </a:spcAft>
              <a:defRPr sz="1800" b="0">
                <a:solidFill>
                  <a:srgbClr val="9CA3AF"/>
                </a:solidFill>
                <a:latin typeface="Pretendard"/>
              </a:defRPr>
            </a:pPr>
            <a:r>
              <a:t>이 모든 맥락이 회의마다 쌓이고,</a:t>
            </a:r>
          </a:p>
          <a:p>
            <a:pPr>
              <a:lnSpc>
                <a:spcPts val="2700"/>
              </a:lnSpc>
              <a:spcAft>
                <a:spcPts val="400"/>
              </a:spcAft>
              <a:defRPr sz="1800" b="0">
                <a:solidFill>
                  <a:srgbClr val="9CA3AF"/>
                </a:solidFill>
                <a:latin typeface="Pretendard"/>
              </a:defRPr>
            </a:pPr>
            <a:r>
              <a:t>의사결정자마다 다르게 해석된다.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400" b="1">
                <a:solidFill>
                  <a:srgbClr val="F87171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0584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000"/>
              </a:lnSpc>
              <a:spcAft>
                <a:spcPts val="0"/>
              </a:spcAft>
              <a:defRPr sz="4000" b="1">
                <a:solidFill>
                  <a:srgbClr val="F87171"/>
                </a:solidFill>
                <a:latin typeface="Pretendard"/>
              </a:defRPr>
            </a:pPr>
            <a:r>
              <a:t>그 단 한 순간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1371600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200"/>
              </a:lnSpc>
              <a:spcAft>
                <a:spcPts val="400"/>
              </a:spcAft>
              <a:defRPr sz="2800" b="1">
                <a:solidFill>
                  <a:srgbClr val="FFFFFF"/>
                </a:solidFill>
                <a:latin typeface="Pretendard"/>
              </a:defRPr>
            </a:pPr>
            <a:r>
              <a:t>"저번에 내가 뭐라고 했더라...?"</a:t>
            </a:r>
          </a:p>
          <a:p>
            <a:pPr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Pretendard"/>
              </a:defRPr>
            </a:pPr>
            <a:endParaRPr/>
          </a:p>
          <a:p>
            <a:pPr>
              <a:lnSpc>
                <a:spcPts val="3000"/>
              </a:lnSpc>
              <a:spcAft>
                <a:spcPts val="400"/>
              </a:spcAft>
              <a:defRPr sz="2000" b="0">
                <a:solidFill>
                  <a:srgbClr val="D1D5DB"/>
                </a:solidFill>
                <a:latin typeface="Pretendard"/>
              </a:defRPr>
            </a:pPr>
            <a:r>
              <a:t>기억이 안 난다</a:t>
            </a:r>
          </a:p>
          <a:p>
            <a:pPr>
              <a:lnSpc>
                <a:spcPts val="3000"/>
              </a:lnSpc>
              <a:spcAft>
                <a:spcPts val="400"/>
              </a:spcAft>
              <a:defRPr sz="2000" b="0">
                <a:solidFill>
                  <a:srgbClr val="D1D5DB"/>
                </a:solidFill>
                <a:latin typeface="Pretendard"/>
              </a:defRPr>
            </a:pPr>
            <a:r>
              <a:t>  → 모호한 답변을 한다</a:t>
            </a:r>
          </a:p>
          <a:p>
            <a:pPr>
              <a:lnSpc>
                <a:spcPts val="3000"/>
              </a:lnSpc>
              <a:spcAft>
                <a:spcPts val="400"/>
              </a:spcAft>
              <a:defRPr sz="2000" b="0">
                <a:solidFill>
                  <a:srgbClr val="D1D5DB"/>
                </a:solidFill>
                <a:latin typeface="Pretendard"/>
              </a:defRPr>
            </a:pPr>
            <a:r>
              <a:t>  → 고객이 유리하게 해석한다</a:t>
            </a:r>
          </a:p>
          <a:p>
            <a:pPr>
              <a:lnSpc>
                <a:spcPts val="3000"/>
              </a:lnSpc>
              <a:spcAft>
                <a:spcPts val="400"/>
              </a:spcAft>
              <a:defRPr sz="2000" b="0">
                <a:solidFill>
                  <a:srgbClr val="D1D5DB"/>
                </a:solidFill>
                <a:latin typeface="Pretendard"/>
              </a:defRPr>
            </a:pPr>
            <a:r>
              <a:t>  → 나중에 뒤집기 어려워진다</a:t>
            </a:r>
          </a:p>
          <a:p>
            <a:pPr>
              <a:lnSpc>
                <a:spcPts val="3300"/>
              </a:lnSpc>
              <a:spcAft>
                <a:spcPts val="400"/>
              </a:spcAft>
              <a:defRPr sz="2200" b="1">
                <a:solidFill>
                  <a:srgbClr val="F87171"/>
                </a:solidFill>
                <a:latin typeface="Pretendard"/>
              </a:defRPr>
            </a:pPr>
            <a:r>
              <a:t>  → 수천만 원의 팀 노력이</a:t>
            </a:r>
          </a:p>
          <a:p>
            <a:pPr>
              <a:lnSpc>
                <a:spcPts val="3300"/>
              </a:lnSpc>
              <a:spcAft>
                <a:spcPts val="400"/>
              </a:spcAft>
              <a:defRPr sz="2200" b="1">
                <a:solidFill>
                  <a:srgbClr val="F87171"/>
                </a:solidFill>
                <a:latin typeface="Pretendard"/>
              </a:defRPr>
            </a:pPr>
            <a:r>
              <a:t>     공짜로 넘어간다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286000"/>
            <a:ext cx="5943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spcAft>
                <a:spcPts val="400"/>
              </a:spcAft>
              <a:defRPr sz="2000" b="0">
                <a:solidFill>
                  <a:srgbClr val="FFFFFF"/>
                </a:solidFill>
                <a:latin typeface="Pretendard"/>
              </a:defRPr>
            </a:pPr>
            <a:r>
              <a:t>고객도 고마워하지 않는다.</a:t>
            </a:r>
          </a:p>
          <a:p>
            <a:pPr>
              <a:lnSpc>
                <a:spcPts val="3000"/>
              </a:lnSpc>
              <a:spcAft>
                <a:spcPts val="400"/>
              </a:spcAft>
              <a:defRPr sz="2000" b="0">
                <a:solidFill>
                  <a:srgbClr val="FFFFFF"/>
                </a:solidFill>
                <a:latin typeface="Pretendard"/>
              </a:defRPr>
            </a:pPr>
            <a:r>
              <a:t>우리 팀도 정당한 대가를 받지 못한다.</a:t>
            </a:r>
          </a:p>
          <a:p>
            <a:pPr>
              <a:lnSpc>
                <a:spcPts val="3300"/>
              </a:lnSpc>
              <a:spcAft>
                <a:spcPts val="400"/>
              </a:spcAft>
              <a:defRPr sz="2200" b="1">
                <a:solidFill>
                  <a:srgbClr val="F87171"/>
                </a:solidFill>
                <a:latin typeface="Pretendard"/>
              </a:defRPr>
            </a:pPr>
            <a:r>
              <a:t>양쪽 모두 불행해지는 구조.</a:t>
            </a:r>
          </a:p>
          <a:p>
            <a:pPr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Pretendard"/>
              </a:defRPr>
            </a:pPr>
            <a:endParaRPr/>
          </a:p>
          <a:p>
            <a:pPr>
              <a:lnSpc>
                <a:spcPts val="3300"/>
              </a:lnSpc>
              <a:spcAft>
                <a:spcPts val="400"/>
              </a:spcAft>
              <a:defRPr sz="2200" b="1">
                <a:solidFill>
                  <a:srgbClr val="FBBF24"/>
                </a:solidFill>
                <a:latin typeface="Pretendard"/>
              </a:defRPr>
            </a:pPr>
            <a:r>
              <a:t>세일즈맨의 진짜 페인:</a:t>
            </a:r>
          </a:p>
          <a:p>
            <a:pPr>
              <a:lnSpc>
                <a:spcPts val="1200"/>
              </a:lnSpc>
              <a:spcAft>
                <a:spcPts val="400"/>
              </a:spcAft>
              <a:defRPr sz="800" b="0">
                <a:solidFill>
                  <a:srgbClr val="FFFFFF"/>
                </a:solidFill>
                <a:latin typeface="Pretendard"/>
              </a:defRPr>
            </a:pPr>
            <a:endParaRPr/>
          </a:p>
          <a:p>
            <a:pPr>
              <a:lnSpc>
                <a:spcPts val="3000"/>
              </a:lnSpc>
              <a:spcAft>
                <a:spcPts val="400"/>
              </a:spcAft>
              <a:defRPr sz="2000" b="0">
                <a:solidFill>
                  <a:srgbClr val="FFFFFF"/>
                </a:solidFill>
                <a:latin typeface="Pretendard"/>
              </a:defRPr>
            </a:pPr>
            <a:r>
              <a:t>밤새 준비한 팀원들의 리소스를</a:t>
            </a:r>
          </a:p>
          <a:p>
            <a:pPr>
              <a:lnSpc>
                <a:spcPts val="3000"/>
              </a:lnSpc>
              <a:spcAft>
                <a:spcPts val="400"/>
              </a:spcAft>
              <a:defRPr sz="2000" b="0">
                <a:solidFill>
                  <a:srgbClr val="FFFFFF"/>
                </a:solidFill>
                <a:latin typeface="Pretendard"/>
              </a:defRPr>
            </a:pPr>
            <a:r>
              <a:t>내 말 한 마디 실수로 정당하게</a:t>
            </a:r>
          </a:p>
          <a:p>
            <a:pPr>
              <a:lnSpc>
                <a:spcPts val="3300"/>
              </a:lnSpc>
              <a:spcAft>
                <a:spcPts val="400"/>
              </a:spcAft>
              <a:defRPr sz="2200" b="1">
                <a:solidFill>
                  <a:srgbClr val="F87171"/>
                </a:solidFill>
                <a:latin typeface="Pretendard"/>
              </a:defRPr>
            </a:pPr>
            <a:r>
              <a:t>보상받지 못하게 만든다는 죄책감.</a:t>
            </a:r>
          </a:p>
          <a:p>
            <a:pPr>
              <a:lnSpc>
                <a:spcPts val="15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Pretendard"/>
              </a:defRPr>
            </a:pPr>
            <a:endParaRPr/>
          </a:p>
          <a:p>
            <a:pPr>
              <a:lnSpc>
                <a:spcPts val="2700"/>
              </a:lnSpc>
              <a:spcAft>
                <a:spcPts val="400"/>
              </a:spcAft>
              <a:defRPr sz="1800" b="0">
                <a:solidFill>
                  <a:srgbClr val="9CA3AF"/>
                </a:solidFill>
                <a:latin typeface="Pretendard"/>
              </a:defRPr>
            </a:pPr>
            <a:r>
              <a:t>이건 단순한 매출 손실이 아니다.</a:t>
            </a:r>
          </a:p>
          <a:p>
            <a:pPr>
              <a:lnSpc>
                <a:spcPts val="3000"/>
              </a:lnSpc>
              <a:spcAft>
                <a:spcPts val="400"/>
              </a:spcAft>
              <a:defRPr sz="2000" b="1">
                <a:solidFill>
                  <a:srgbClr val="FFFFFF"/>
                </a:solidFill>
                <a:latin typeface="Pretendard"/>
              </a:defRPr>
            </a:pPr>
            <a:r>
              <a:t>동료에 대한 책임감의 문제다.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400" b="1">
                <a:solidFill>
                  <a:srgbClr val="60A5FA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0584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40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Pretendard"/>
              </a:defRPr>
            </a:pPr>
            <a:r>
              <a:t>왜 이런 일이 생기는가?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137160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300"/>
              </a:lnSpc>
              <a:spcAft>
                <a:spcPts val="400"/>
              </a:spcAft>
              <a:defRPr sz="2200" b="1">
                <a:solidFill>
                  <a:srgbClr val="FFFFFF"/>
                </a:solidFill>
                <a:latin typeface="Pretendard"/>
              </a:defRPr>
            </a:pPr>
            <a:r>
              <a:rPr dirty="0" err="1"/>
              <a:t>세일즈맨의</a:t>
            </a:r>
            <a:r>
              <a:rPr dirty="0"/>
              <a:t> </a:t>
            </a:r>
            <a:r>
              <a:rPr dirty="0" err="1"/>
              <a:t>기억력과</a:t>
            </a:r>
            <a:r>
              <a:rPr dirty="0"/>
              <a:t> </a:t>
            </a:r>
            <a:r>
              <a:rPr dirty="0" err="1"/>
              <a:t>학습력이</a:t>
            </a:r>
            <a:r>
              <a:rPr dirty="0"/>
              <a:t> </a:t>
            </a:r>
            <a:r>
              <a:rPr dirty="0" err="1"/>
              <a:t>한계에</a:t>
            </a:r>
            <a:r>
              <a:rPr dirty="0"/>
              <a:t> </a:t>
            </a:r>
            <a:r>
              <a:rPr dirty="0" err="1"/>
              <a:t>부딪힌다</a:t>
            </a:r>
            <a:r>
              <a:rPr dirty="0"/>
              <a:t>.</a:t>
            </a:r>
          </a:p>
          <a:p>
            <a:pPr>
              <a:lnSpc>
                <a:spcPts val="15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Pretendard"/>
              </a:defRPr>
            </a:pPr>
            <a:endParaRPr dirty="0"/>
          </a:p>
          <a:p>
            <a:pPr>
              <a:lnSpc>
                <a:spcPts val="3000"/>
              </a:lnSpc>
              <a:spcAft>
                <a:spcPts val="400"/>
              </a:spcAft>
              <a:defRPr sz="2000" b="0">
                <a:solidFill>
                  <a:srgbClr val="D1D5DB"/>
                </a:solidFill>
                <a:latin typeface="Pretendard"/>
              </a:defRPr>
            </a:pPr>
            <a:r>
              <a:rPr dirty="0" err="1"/>
              <a:t>데이터는</a:t>
            </a:r>
            <a:r>
              <a:rPr dirty="0"/>
              <a:t> </a:t>
            </a:r>
            <a:r>
              <a:rPr dirty="0" err="1"/>
              <a:t>이미</a:t>
            </a:r>
            <a:r>
              <a:rPr dirty="0"/>
              <a:t> 다 </a:t>
            </a:r>
            <a:r>
              <a:rPr dirty="0" err="1"/>
              <a:t>있다</a:t>
            </a:r>
            <a:r>
              <a:rPr dirty="0"/>
              <a:t>:</a:t>
            </a:r>
          </a:p>
          <a:p>
            <a:pPr>
              <a:lnSpc>
                <a:spcPts val="2700"/>
              </a:lnSpc>
              <a:spcAft>
                <a:spcPts val="400"/>
              </a:spcAft>
              <a:defRPr sz="1800" b="0">
                <a:solidFill>
                  <a:srgbClr val="9CA3AF"/>
                </a:solidFill>
                <a:latin typeface="Pretendard"/>
              </a:defRPr>
            </a:pPr>
            <a:r>
              <a:rPr dirty="0"/>
              <a:t>  </a:t>
            </a:r>
            <a:r>
              <a:rPr dirty="0" err="1"/>
              <a:t>녹음</a:t>
            </a:r>
            <a:r>
              <a:rPr dirty="0"/>
              <a:t> </a:t>
            </a:r>
            <a:r>
              <a:rPr dirty="0" err="1"/>
              <a:t>파일</a:t>
            </a:r>
            <a:r>
              <a:rPr dirty="0"/>
              <a:t>, </a:t>
            </a:r>
            <a:r>
              <a:rPr dirty="0" err="1"/>
              <a:t>회의록</a:t>
            </a:r>
            <a:r>
              <a:rPr dirty="0"/>
              <a:t>, </a:t>
            </a:r>
            <a:r>
              <a:rPr dirty="0" err="1"/>
              <a:t>메모</a:t>
            </a:r>
            <a:r>
              <a:rPr dirty="0"/>
              <a:t>, </a:t>
            </a:r>
            <a:r>
              <a:rPr dirty="0" err="1"/>
              <a:t>통화</a:t>
            </a:r>
            <a:r>
              <a:rPr dirty="0"/>
              <a:t> </a:t>
            </a:r>
            <a:r>
              <a:rPr dirty="0" err="1"/>
              <a:t>기록</a:t>
            </a:r>
            <a:r>
              <a:rPr dirty="0"/>
              <a:t>...</a:t>
            </a:r>
          </a:p>
          <a:p>
            <a:pPr>
              <a:lnSpc>
                <a:spcPts val="15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Pretendard"/>
              </a:defRPr>
            </a:pPr>
            <a:endParaRPr dirty="0"/>
          </a:p>
          <a:p>
            <a:pPr>
              <a:lnSpc>
                <a:spcPts val="3300"/>
              </a:lnSpc>
              <a:spcAft>
                <a:spcPts val="400"/>
              </a:spcAft>
              <a:defRPr sz="2200" b="1">
                <a:solidFill>
                  <a:srgbClr val="60A5FA"/>
                </a:solidFill>
                <a:latin typeface="Pretendard"/>
              </a:defRPr>
            </a:pPr>
            <a:r>
              <a:rPr dirty="0" err="1"/>
              <a:t>하지만</a:t>
            </a:r>
            <a:r>
              <a:rPr dirty="0"/>
              <a:t> 10초 </a:t>
            </a:r>
            <a:r>
              <a:rPr dirty="0" err="1"/>
              <a:t>안에</a:t>
            </a:r>
            <a:r>
              <a:rPr dirty="0"/>
              <a:t> </a:t>
            </a:r>
            <a:r>
              <a:rPr dirty="0" err="1"/>
              <a:t>꺼내</a:t>
            </a:r>
            <a:r>
              <a:rPr dirty="0"/>
              <a:t> 쓸 수 </a:t>
            </a:r>
            <a:r>
              <a:rPr dirty="0" err="1"/>
              <a:t>없다</a:t>
            </a:r>
            <a:r>
              <a:rPr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28600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spcAft>
                <a:spcPts val="400"/>
              </a:spcAft>
              <a:defRPr sz="2000" b="1">
                <a:solidFill>
                  <a:srgbClr val="FBBF24"/>
                </a:solidFill>
                <a:latin typeface="Pretendard"/>
              </a:defRPr>
            </a:pPr>
            <a:r>
              <a:rPr dirty="0" err="1"/>
              <a:t>기존</a:t>
            </a:r>
            <a:r>
              <a:rPr dirty="0"/>
              <a:t> </a:t>
            </a:r>
            <a:r>
              <a:rPr dirty="0" err="1"/>
              <a:t>도구들은</a:t>
            </a:r>
            <a:r>
              <a:rPr dirty="0"/>
              <a:t> 왜 안 </a:t>
            </a:r>
            <a:r>
              <a:rPr dirty="0" err="1"/>
              <a:t>되는가</a:t>
            </a:r>
            <a:r>
              <a:rPr dirty="0"/>
              <a:t>?</a:t>
            </a:r>
          </a:p>
          <a:p>
            <a:pPr>
              <a:lnSpc>
                <a:spcPts val="15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Pretendard"/>
              </a:defRPr>
            </a:pPr>
            <a:endParaRPr dirty="0"/>
          </a:p>
          <a:p>
            <a:pPr>
              <a:lnSpc>
                <a:spcPts val="2700"/>
              </a:lnSpc>
              <a:spcAft>
                <a:spcPts val="400"/>
              </a:spcAft>
              <a:defRPr sz="1800" b="1">
                <a:solidFill>
                  <a:srgbClr val="FFFFFF"/>
                </a:solidFill>
                <a:latin typeface="Pretendard"/>
              </a:defRPr>
            </a:pPr>
            <a:r>
              <a:rPr dirty="0"/>
              <a:t>Salesforce/CRM</a:t>
            </a:r>
          </a:p>
          <a:p>
            <a:pPr>
              <a:lnSpc>
                <a:spcPts val="2550"/>
              </a:lnSpc>
              <a:spcAft>
                <a:spcPts val="400"/>
              </a:spcAft>
              <a:defRPr sz="1700" b="0">
                <a:solidFill>
                  <a:srgbClr val="9CA3AF"/>
                </a:solidFill>
                <a:latin typeface="Pretendard"/>
              </a:defRPr>
            </a:pPr>
            <a:r>
              <a:rPr dirty="0"/>
              <a:t>  </a:t>
            </a:r>
            <a:r>
              <a:rPr dirty="0" err="1"/>
              <a:t>기록은</a:t>
            </a:r>
            <a:r>
              <a:rPr dirty="0"/>
              <a:t> </a:t>
            </a:r>
            <a:r>
              <a:rPr dirty="0" err="1"/>
              <a:t>하지만</a:t>
            </a:r>
            <a:r>
              <a:rPr dirty="0"/>
              <a:t>, </a:t>
            </a:r>
            <a:r>
              <a:rPr dirty="0" err="1"/>
              <a:t>맥락을</a:t>
            </a:r>
            <a:r>
              <a:rPr dirty="0"/>
              <a:t> 10초에 </a:t>
            </a:r>
            <a:r>
              <a:rPr dirty="0" err="1"/>
              <a:t>꺼내주지</a:t>
            </a:r>
            <a:r>
              <a:rPr dirty="0"/>
              <a:t> </a:t>
            </a:r>
            <a:r>
              <a:rPr dirty="0" err="1"/>
              <a:t>못한다</a:t>
            </a:r>
            <a:r>
              <a:rPr dirty="0"/>
              <a:t>.</a:t>
            </a:r>
          </a:p>
          <a:p>
            <a:pPr>
              <a:lnSpc>
                <a:spcPts val="2550"/>
              </a:lnSpc>
              <a:spcAft>
                <a:spcPts val="400"/>
              </a:spcAft>
              <a:defRPr sz="1700" b="0">
                <a:solidFill>
                  <a:srgbClr val="9CA3AF"/>
                </a:solidFill>
                <a:latin typeface="Pretendard"/>
              </a:defRPr>
            </a:pPr>
            <a:r>
              <a:rPr dirty="0"/>
              <a:t>  </a:t>
            </a:r>
            <a:r>
              <a:rPr dirty="0" err="1"/>
              <a:t>수동</a:t>
            </a:r>
            <a:r>
              <a:rPr dirty="0"/>
              <a:t> </a:t>
            </a:r>
            <a:r>
              <a:rPr dirty="0" err="1"/>
              <a:t>입력</a:t>
            </a:r>
            <a:r>
              <a:rPr dirty="0"/>
              <a:t> → </a:t>
            </a:r>
            <a:r>
              <a:rPr dirty="0" err="1"/>
              <a:t>바쁜</a:t>
            </a:r>
            <a:r>
              <a:rPr dirty="0"/>
              <a:t> </a:t>
            </a:r>
            <a:r>
              <a:rPr dirty="0" err="1"/>
              <a:t>세일즈맨은</a:t>
            </a:r>
            <a:r>
              <a:rPr dirty="0"/>
              <a:t> 안 </a:t>
            </a:r>
            <a:r>
              <a:rPr dirty="0" err="1"/>
              <a:t>쓴다</a:t>
            </a:r>
            <a:r>
              <a:rPr dirty="0"/>
              <a:t>.</a:t>
            </a:r>
          </a:p>
          <a:p>
            <a:pPr>
              <a:lnSpc>
                <a:spcPts val="1200"/>
              </a:lnSpc>
              <a:spcAft>
                <a:spcPts val="400"/>
              </a:spcAft>
              <a:defRPr sz="800" b="0">
                <a:solidFill>
                  <a:srgbClr val="FFFFFF"/>
                </a:solidFill>
                <a:latin typeface="Pretendard"/>
              </a:defRPr>
            </a:pPr>
            <a:endParaRPr dirty="0"/>
          </a:p>
          <a:p>
            <a:pPr>
              <a:lnSpc>
                <a:spcPts val="2700"/>
              </a:lnSpc>
              <a:spcAft>
                <a:spcPts val="400"/>
              </a:spcAft>
              <a:defRPr sz="1800" b="1">
                <a:solidFill>
                  <a:srgbClr val="FFFFFF"/>
                </a:solidFill>
                <a:latin typeface="Pretendard"/>
              </a:defRPr>
            </a:pPr>
            <a:r>
              <a:rPr dirty="0"/>
              <a:t>Gong / Chorus</a:t>
            </a:r>
          </a:p>
          <a:p>
            <a:pPr>
              <a:lnSpc>
                <a:spcPts val="2550"/>
              </a:lnSpc>
              <a:spcAft>
                <a:spcPts val="400"/>
              </a:spcAft>
              <a:defRPr sz="1700" b="0">
                <a:solidFill>
                  <a:srgbClr val="9CA3AF"/>
                </a:solidFill>
                <a:latin typeface="Pretendard"/>
              </a:defRPr>
            </a:pPr>
            <a:r>
              <a:rPr dirty="0"/>
              <a:t>  </a:t>
            </a:r>
            <a:r>
              <a:rPr dirty="0" err="1"/>
              <a:t>영어권</a:t>
            </a:r>
            <a:r>
              <a:rPr dirty="0"/>
              <a:t> </a:t>
            </a:r>
            <a:r>
              <a:rPr dirty="0" err="1"/>
              <a:t>중심</a:t>
            </a:r>
            <a:r>
              <a:rPr dirty="0"/>
              <a:t>, </a:t>
            </a:r>
            <a:r>
              <a:rPr dirty="0" err="1"/>
              <a:t>분석</a:t>
            </a:r>
            <a:r>
              <a:rPr dirty="0"/>
              <a:t> </a:t>
            </a:r>
            <a:r>
              <a:rPr dirty="0" err="1"/>
              <a:t>결과를</a:t>
            </a:r>
            <a:r>
              <a:rPr dirty="0"/>
              <a:t> </a:t>
            </a:r>
            <a:r>
              <a:rPr dirty="0" err="1"/>
              <a:t>소비하기</a:t>
            </a:r>
            <a:r>
              <a:rPr dirty="0"/>
              <a:t> </a:t>
            </a:r>
            <a:r>
              <a:rPr dirty="0" err="1"/>
              <a:t>어렵다</a:t>
            </a:r>
            <a:r>
              <a:rPr dirty="0"/>
              <a:t>.</a:t>
            </a:r>
          </a:p>
          <a:p>
            <a:pPr>
              <a:lnSpc>
                <a:spcPts val="2550"/>
              </a:lnSpc>
              <a:spcAft>
                <a:spcPts val="400"/>
              </a:spcAft>
              <a:defRPr sz="1700" b="0">
                <a:solidFill>
                  <a:srgbClr val="9CA3AF"/>
                </a:solidFill>
                <a:latin typeface="Pretendard"/>
              </a:defRPr>
            </a:pPr>
            <a:r>
              <a:rPr dirty="0"/>
              <a:t>  팀 </a:t>
            </a:r>
            <a:r>
              <a:rPr dirty="0" err="1"/>
              <a:t>매니저</a:t>
            </a:r>
            <a:r>
              <a:rPr dirty="0"/>
              <a:t> </a:t>
            </a:r>
            <a:r>
              <a:rPr dirty="0" err="1"/>
              <a:t>관점</a:t>
            </a:r>
            <a:r>
              <a:rPr dirty="0"/>
              <a:t> </a:t>
            </a:r>
            <a:r>
              <a:rPr dirty="0" err="1"/>
              <a:t>도구</a:t>
            </a:r>
            <a:r>
              <a:rPr dirty="0"/>
              <a:t>, </a:t>
            </a:r>
            <a:r>
              <a:rPr dirty="0" err="1"/>
              <a:t>현장</a:t>
            </a:r>
            <a:r>
              <a:rPr dirty="0"/>
              <a:t> </a:t>
            </a:r>
            <a:r>
              <a:rPr dirty="0" err="1"/>
              <a:t>세일즈맨</a:t>
            </a:r>
            <a:r>
              <a:rPr dirty="0"/>
              <a:t> </a:t>
            </a:r>
            <a:r>
              <a:rPr dirty="0" err="1"/>
              <a:t>관점이</a:t>
            </a:r>
            <a:r>
              <a:rPr dirty="0"/>
              <a:t> </a:t>
            </a:r>
            <a:r>
              <a:rPr dirty="0" err="1"/>
              <a:t>아니다</a:t>
            </a:r>
            <a:r>
              <a:rPr dirty="0"/>
              <a:t>.</a:t>
            </a:r>
          </a:p>
          <a:p>
            <a:pPr>
              <a:lnSpc>
                <a:spcPts val="1200"/>
              </a:lnSpc>
              <a:spcAft>
                <a:spcPts val="400"/>
              </a:spcAft>
              <a:defRPr sz="800" b="0">
                <a:solidFill>
                  <a:srgbClr val="FFFFFF"/>
                </a:solidFill>
                <a:latin typeface="Pretendard"/>
              </a:defRPr>
            </a:pPr>
            <a:endParaRPr dirty="0"/>
          </a:p>
          <a:p>
            <a:pPr>
              <a:lnSpc>
                <a:spcPts val="2700"/>
              </a:lnSpc>
              <a:spcAft>
                <a:spcPts val="400"/>
              </a:spcAft>
              <a:defRPr sz="1800" b="1">
                <a:solidFill>
                  <a:srgbClr val="FFFFFF"/>
                </a:solidFill>
                <a:latin typeface="Pretendard"/>
              </a:defRPr>
            </a:pPr>
            <a:r>
              <a:rPr dirty="0" err="1"/>
              <a:t>노션</a:t>
            </a:r>
            <a:r>
              <a:rPr dirty="0"/>
              <a:t> / </a:t>
            </a:r>
            <a:r>
              <a:rPr dirty="0" err="1"/>
              <a:t>메모</a:t>
            </a:r>
            <a:endParaRPr dirty="0"/>
          </a:p>
          <a:p>
            <a:pPr>
              <a:lnSpc>
                <a:spcPts val="2550"/>
              </a:lnSpc>
              <a:spcAft>
                <a:spcPts val="400"/>
              </a:spcAft>
              <a:defRPr sz="1700" b="0">
                <a:solidFill>
                  <a:srgbClr val="9CA3AF"/>
                </a:solidFill>
                <a:latin typeface="Pretendard"/>
              </a:defRPr>
            </a:pPr>
            <a:r>
              <a:rPr dirty="0"/>
              <a:t>  </a:t>
            </a:r>
            <a:r>
              <a:rPr dirty="0" err="1"/>
              <a:t>기록</a:t>
            </a:r>
            <a:r>
              <a:rPr dirty="0"/>
              <a:t> → </a:t>
            </a:r>
            <a:r>
              <a:rPr dirty="0" err="1"/>
              <a:t>잊혀짐</a:t>
            </a:r>
            <a:r>
              <a:rPr dirty="0"/>
              <a:t>. </a:t>
            </a:r>
            <a:r>
              <a:rPr dirty="0" err="1"/>
              <a:t>검색해도</a:t>
            </a:r>
            <a:r>
              <a:rPr dirty="0"/>
              <a:t> </a:t>
            </a:r>
            <a:r>
              <a:rPr dirty="0" err="1"/>
              <a:t>맥락이</a:t>
            </a:r>
            <a:r>
              <a:rPr dirty="0"/>
              <a:t> 안 </a:t>
            </a:r>
            <a:r>
              <a:rPr dirty="0" err="1"/>
              <a:t>보인다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400" b="1">
                <a:solidFill>
                  <a:srgbClr val="60A5FA"/>
                </a:solidFill>
                <a:latin typeface="Inter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0584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40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Pretendard"/>
              </a:defRPr>
            </a:pPr>
            <a:r>
              <a:t>이건 나만의 문제가 아니다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137160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spcAft>
                <a:spcPts val="400"/>
              </a:spcAft>
              <a:defRPr sz="2000" b="1">
                <a:solidFill>
                  <a:srgbClr val="4ADE80"/>
                </a:solidFill>
                <a:latin typeface="Pretendard"/>
              </a:defRPr>
            </a:pPr>
            <a:r>
              <a:rPr dirty="0" err="1"/>
              <a:t>시장이</a:t>
            </a:r>
            <a:r>
              <a:rPr dirty="0"/>
              <a:t> </a:t>
            </a:r>
            <a:r>
              <a:rPr dirty="0" err="1"/>
              <a:t>검증하고</a:t>
            </a:r>
            <a:r>
              <a:rPr dirty="0"/>
              <a:t> </a:t>
            </a:r>
            <a:r>
              <a:rPr dirty="0" err="1"/>
              <a:t>있다</a:t>
            </a:r>
            <a:r>
              <a:rPr dirty="0"/>
              <a:t>:</a:t>
            </a:r>
          </a:p>
          <a:p>
            <a:pPr>
              <a:lnSpc>
                <a:spcPts val="15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Pretendard"/>
              </a:defRPr>
            </a:pPr>
            <a:endParaRPr dirty="0"/>
          </a:p>
          <a:p>
            <a:pPr>
              <a:lnSpc>
                <a:spcPts val="3000"/>
              </a:lnSpc>
              <a:spcAft>
                <a:spcPts val="400"/>
              </a:spcAft>
              <a:defRPr sz="2000" b="1">
                <a:solidFill>
                  <a:srgbClr val="FFFFFF"/>
                </a:solidFill>
                <a:latin typeface="Pretendard"/>
              </a:defRPr>
            </a:pPr>
            <a:r>
              <a:rPr dirty="0"/>
              <a:t>Gong.io — $7.2B valuation</a:t>
            </a:r>
          </a:p>
          <a:p>
            <a:pPr>
              <a:lnSpc>
                <a:spcPts val="2550"/>
              </a:lnSpc>
              <a:spcAft>
                <a:spcPts val="400"/>
              </a:spcAft>
              <a:defRPr sz="1700" b="0">
                <a:solidFill>
                  <a:srgbClr val="9CA3AF"/>
                </a:solidFill>
                <a:latin typeface="Pretendard"/>
              </a:defRPr>
            </a:pPr>
            <a:r>
              <a:rPr dirty="0"/>
              <a:t>  </a:t>
            </a:r>
            <a:r>
              <a:rPr dirty="0" err="1"/>
              <a:t>세일즈</a:t>
            </a:r>
            <a:r>
              <a:rPr dirty="0"/>
              <a:t> </a:t>
            </a:r>
            <a:r>
              <a:rPr dirty="0" err="1"/>
              <a:t>대화</a:t>
            </a:r>
            <a:r>
              <a:rPr dirty="0"/>
              <a:t> </a:t>
            </a:r>
            <a:r>
              <a:rPr dirty="0" err="1"/>
              <a:t>분석</a:t>
            </a:r>
            <a:r>
              <a:rPr dirty="0"/>
              <a:t> </a:t>
            </a:r>
            <a:r>
              <a:rPr dirty="0" err="1"/>
              <a:t>플랫폼</a:t>
            </a:r>
            <a:endParaRPr dirty="0"/>
          </a:p>
          <a:p>
            <a:pPr>
              <a:lnSpc>
                <a:spcPts val="1200"/>
              </a:lnSpc>
              <a:spcAft>
                <a:spcPts val="400"/>
              </a:spcAft>
              <a:defRPr sz="800" b="0">
                <a:solidFill>
                  <a:srgbClr val="FFFFFF"/>
                </a:solidFill>
                <a:latin typeface="Pretendard"/>
              </a:defRPr>
            </a:pPr>
            <a:endParaRPr dirty="0"/>
          </a:p>
          <a:p>
            <a:pPr>
              <a:lnSpc>
                <a:spcPts val="3000"/>
              </a:lnSpc>
              <a:spcAft>
                <a:spcPts val="400"/>
              </a:spcAft>
              <a:defRPr sz="2000" b="1">
                <a:solidFill>
                  <a:srgbClr val="FFFFFF"/>
                </a:solidFill>
                <a:latin typeface="Pretendard"/>
              </a:defRPr>
            </a:pPr>
            <a:r>
              <a:rPr dirty="0"/>
              <a:t>Chorus (ZoomInfo) — $575M </a:t>
            </a:r>
            <a:r>
              <a:rPr dirty="0" err="1"/>
              <a:t>인수</a:t>
            </a:r>
            <a:endParaRPr dirty="0"/>
          </a:p>
          <a:p>
            <a:pPr>
              <a:lnSpc>
                <a:spcPts val="2550"/>
              </a:lnSpc>
              <a:spcAft>
                <a:spcPts val="400"/>
              </a:spcAft>
              <a:defRPr sz="1700" b="0">
                <a:solidFill>
                  <a:srgbClr val="9CA3AF"/>
                </a:solidFill>
                <a:latin typeface="Pretendard"/>
              </a:defRPr>
            </a:pPr>
            <a:r>
              <a:rPr dirty="0"/>
              <a:t>  </a:t>
            </a:r>
            <a:r>
              <a:rPr dirty="0" err="1"/>
              <a:t>대화</a:t>
            </a:r>
            <a:r>
              <a:rPr dirty="0"/>
              <a:t> </a:t>
            </a:r>
            <a:r>
              <a:rPr dirty="0" err="1"/>
              <a:t>인텔리전스</a:t>
            </a:r>
            <a:endParaRPr dirty="0"/>
          </a:p>
          <a:p>
            <a:pPr>
              <a:lnSpc>
                <a:spcPts val="1200"/>
              </a:lnSpc>
              <a:spcAft>
                <a:spcPts val="400"/>
              </a:spcAft>
              <a:defRPr sz="800" b="0">
                <a:solidFill>
                  <a:srgbClr val="FFFFFF"/>
                </a:solidFill>
                <a:latin typeface="Pretendard"/>
              </a:defRPr>
            </a:pPr>
            <a:endParaRPr dirty="0"/>
          </a:p>
          <a:p>
            <a:pPr>
              <a:lnSpc>
                <a:spcPts val="3000"/>
              </a:lnSpc>
              <a:spcAft>
                <a:spcPts val="400"/>
              </a:spcAft>
              <a:defRPr sz="2000" b="1">
                <a:solidFill>
                  <a:srgbClr val="FFFFFF"/>
                </a:solidFill>
                <a:latin typeface="Pretendard"/>
              </a:defRPr>
            </a:pPr>
            <a:r>
              <a:rPr dirty="0"/>
              <a:t>Clari, People.ai, Outreach...</a:t>
            </a:r>
          </a:p>
          <a:p>
            <a:pPr>
              <a:lnSpc>
                <a:spcPts val="2550"/>
              </a:lnSpc>
              <a:spcAft>
                <a:spcPts val="400"/>
              </a:spcAft>
              <a:defRPr sz="1700" b="0">
                <a:solidFill>
                  <a:srgbClr val="9CA3AF"/>
                </a:solidFill>
                <a:latin typeface="Pretendard"/>
              </a:defRPr>
            </a:pPr>
            <a:r>
              <a:rPr dirty="0"/>
              <a:t>  </a:t>
            </a:r>
            <a:r>
              <a:rPr dirty="0" err="1"/>
              <a:t>세일즈</a:t>
            </a:r>
            <a:r>
              <a:rPr dirty="0"/>
              <a:t> </a:t>
            </a:r>
            <a:r>
              <a:rPr dirty="0" err="1"/>
              <a:t>인텔리전스</a:t>
            </a:r>
            <a:r>
              <a:rPr dirty="0"/>
              <a:t> </a:t>
            </a:r>
            <a:r>
              <a:rPr dirty="0" err="1"/>
              <a:t>시장</a:t>
            </a:r>
            <a:r>
              <a:rPr dirty="0"/>
              <a:t> </a:t>
            </a:r>
            <a:r>
              <a:rPr dirty="0" err="1"/>
              <a:t>성장</a:t>
            </a:r>
            <a:r>
              <a:rPr dirty="0"/>
              <a:t> 중</a:t>
            </a:r>
          </a:p>
          <a:p>
            <a:pPr>
              <a:lnSpc>
                <a:spcPts val="15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Pretendard"/>
              </a:defRPr>
            </a:pPr>
            <a:endParaRPr dirty="0"/>
          </a:p>
          <a:p>
            <a:pPr>
              <a:lnSpc>
                <a:spcPts val="3300"/>
              </a:lnSpc>
              <a:spcAft>
                <a:spcPts val="400"/>
              </a:spcAft>
              <a:defRPr sz="2200" b="1">
                <a:solidFill>
                  <a:srgbClr val="4ADE80"/>
                </a:solidFill>
                <a:latin typeface="Pretendard"/>
              </a:defRPr>
            </a:pPr>
            <a:r>
              <a:rPr dirty="0"/>
              <a:t>이 </a:t>
            </a:r>
            <a:r>
              <a:rPr dirty="0" err="1"/>
              <a:t>시장은</a:t>
            </a:r>
            <a:r>
              <a:rPr dirty="0"/>
              <a:t> </a:t>
            </a:r>
            <a:r>
              <a:rPr dirty="0" err="1"/>
              <a:t>이미</a:t>
            </a:r>
            <a:r>
              <a:rPr dirty="0"/>
              <a:t> </a:t>
            </a:r>
            <a:r>
              <a:rPr dirty="0" err="1"/>
              <a:t>수조</a:t>
            </a:r>
            <a:r>
              <a:rPr dirty="0"/>
              <a:t> 원 </a:t>
            </a:r>
            <a:r>
              <a:rPr dirty="0" err="1"/>
              <a:t>규모다</a:t>
            </a:r>
            <a:r>
              <a:rPr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28600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spcAft>
                <a:spcPts val="400"/>
              </a:spcAft>
              <a:defRPr sz="2000" b="1">
                <a:solidFill>
                  <a:srgbClr val="FBBF24"/>
                </a:solidFill>
                <a:latin typeface="Pretendard"/>
              </a:defRPr>
            </a:pPr>
            <a:r>
              <a:rPr dirty="0" err="1"/>
              <a:t>하지만</a:t>
            </a:r>
            <a:r>
              <a:rPr dirty="0"/>
              <a:t> </a:t>
            </a:r>
            <a:r>
              <a:rPr dirty="0" err="1"/>
              <a:t>아직</a:t>
            </a:r>
            <a:r>
              <a:rPr dirty="0"/>
              <a:t> </a:t>
            </a:r>
            <a:r>
              <a:rPr dirty="0" err="1"/>
              <a:t>비어</a:t>
            </a:r>
            <a:r>
              <a:rPr dirty="0"/>
              <a:t> </a:t>
            </a:r>
            <a:r>
              <a:rPr dirty="0" err="1"/>
              <a:t>있는</a:t>
            </a:r>
            <a:r>
              <a:rPr dirty="0"/>
              <a:t> </a:t>
            </a:r>
            <a:r>
              <a:rPr dirty="0" err="1"/>
              <a:t>영역</a:t>
            </a:r>
            <a:r>
              <a:rPr dirty="0"/>
              <a:t>:</a:t>
            </a:r>
          </a:p>
          <a:p>
            <a:pPr>
              <a:lnSpc>
                <a:spcPts val="15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Pretendard"/>
              </a:defRPr>
            </a:pPr>
            <a:endParaRPr dirty="0"/>
          </a:p>
          <a:p>
            <a:pPr>
              <a:lnSpc>
                <a:spcPts val="3000"/>
              </a:lnSpc>
              <a:spcAft>
                <a:spcPts val="400"/>
              </a:spcAft>
              <a:defRPr sz="2000" b="0">
                <a:solidFill>
                  <a:srgbClr val="FFFFFF"/>
                </a:solidFill>
                <a:latin typeface="Pretendard"/>
              </a:defRPr>
            </a:pPr>
            <a:r>
              <a:rPr dirty="0" err="1"/>
              <a:t>기존</a:t>
            </a:r>
            <a:r>
              <a:rPr dirty="0"/>
              <a:t> </a:t>
            </a:r>
            <a:r>
              <a:rPr dirty="0" err="1"/>
              <a:t>도구는</a:t>
            </a:r>
            <a:r>
              <a:rPr dirty="0"/>
              <a:t> </a:t>
            </a:r>
            <a:r>
              <a:rPr dirty="0" err="1"/>
              <a:t>매니저</a:t>
            </a:r>
            <a:r>
              <a:rPr dirty="0"/>
              <a:t> </a:t>
            </a:r>
            <a:r>
              <a:rPr dirty="0" err="1"/>
              <a:t>관점이다</a:t>
            </a:r>
            <a:r>
              <a:rPr dirty="0"/>
              <a:t>.</a:t>
            </a:r>
          </a:p>
          <a:p>
            <a:pPr>
              <a:lnSpc>
                <a:spcPts val="2550"/>
              </a:lnSpc>
              <a:spcAft>
                <a:spcPts val="400"/>
              </a:spcAft>
              <a:defRPr sz="1700" b="0">
                <a:solidFill>
                  <a:srgbClr val="9CA3AF"/>
                </a:solidFill>
                <a:latin typeface="Pretendard"/>
              </a:defRPr>
            </a:pPr>
            <a:r>
              <a:rPr dirty="0"/>
              <a:t>  "</a:t>
            </a:r>
            <a:r>
              <a:rPr dirty="0" err="1"/>
              <a:t>우리</a:t>
            </a:r>
            <a:r>
              <a:rPr dirty="0"/>
              <a:t> 팀 </a:t>
            </a:r>
            <a:r>
              <a:rPr dirty="0" err="1"/>
              <a:t>세일즈</a:t>
            </a:r>
            <a:r>
              <a:rPr dirty="0"/>
              <a:t> </a:t>
            </a:r>
            <a:r>
              <a:rPr dirty="0" err="1"/>
              <a:t>통화를</a:t>
            </a:r>
            <a:r>
              <a:rPr dirty="0"/>
              <a:t> </a:t>
            </a:r>
            <a:r>
              <a:rPr dirty="0" err="1"/>
              <a:t>분석해줘</a:t>
            </a:r>
            <a:r>
              <a:rPr dirty="0"/>
              <a:t>"</a:t>
            </a:r>
          </a:p>
          <a:p>
            <a:pPr>
              <a:lnSpc>
                <a:spcPts val="1200"/>
              </a:lnSpc>
              <a:spcAft>
                <a:spcPts val="400"/>
              </a:spcAft>
              <a:defRPr sz="800" b="0">
                <a:solidFill>
                  <a:srgbClr val="FFFFFF"/>
                </a:solidFill>
                <a:latin typeface="Pretendard"/>
              </a:defRPr>
            </a:pPr>
            <a:endParaRPr dirty="0"/>
          </a:p>
          <a:p>
            <a:pPr>
              <a:lnSpc>
                <a:spcPts val="3000"/>
              </a:lnSpc>
              <a:spcAft>
                <a:spcPts val="400"/>
              </a:spcAft>
              <a:defRPr sz="2000" b="1">
                <a:solidFill>
                  <a:srgbClr val="60A5FA"/>
                </a:solidFill>
                <a:latin typeface="Pretendard"/>
              </a:defRPr>
            </a:pPr>
            <a:r>
              <a:rPr dirty="0" err="1"/>
              <a:t>Zipi는</a:t>
            </a:r>
            <a:r>
              <a:rPr dirty="0"/>
              <a:t> </a:t>
            </a:r>
            <a:r>
              <a:rPr dirty="0" err="1"/>
              <a:t>현장</a:t>
            </a:r>
            <a:r>
              <a:rPr dirty="0"/>
              <a:t> </a:t>
            </a:r>
            <a:r>
              <a:rPr dirty="0" err="1"/>
              <a:t>세일즈맨</a:t>
            </a:r>
            <a:r>
              <a:rPr dirty="0"/>
              <a:t> </a:t>
            </a:r>
            <a:r>
              <a:rPr dirty="0" err="1"/>
              <a:t>관점이다</a:t>
            </a:r>
            <a:r>
              <a:rPr dirty="0"/>
              <a:t>.</a:t>
            </a:r>
          </a:p>
          <a:p>
            <a:pPr>
              <a:lnSpc>
                <a:spcPts val="3000"/>
              </a:lnSpc>
              <a:spcAft>
                <a:spcPts val="400"/>
              </a:spcAft>
              <a:defRPr sz="2000" b="0">
                <a:solidFill>
                  <a:srgbClr val="FFFFFF"/>
                </a:solidFill>
                <a:latin typeface="Pretendard"/>
              </a:defRPr>
            </a:pPr>
            <a:r>
              <a:rPr dirty="0"/>
              <a:t>  "</a:t>
            </a:r>
            <a:r>
              <a:rPr dirty="0" err="1"/>
              <a:t>지금</a:t>
            </a:r>
            <a:r>
              <a:rPr dirty="0"/>
              <a:t> </a:t>
            </a:r>
            <a:r>
              <a:rPr dirty="0" err="1"/>
              <a:t>고객이</a:t>
            </a:r>
            <a:r>
              <a:rPr dirty="0"/>
              <a:t> </a:t>
            </a:r>
            <a:r>
              <a:rPr dirty="0" err="1"/>
              <a:t>전화했는데</a:t>
            </a:r>
            <a:r>
              <a:rPr dirty="0"/>
              <a:t>,</a:t>
            </a:r>
          </a:p>
          <a:p>
            <a:pPr>
              <a:lnSpc>
                <a:spcPts val="3000"/>
              </a:lnSpc>
              <a:spcAft>
                <a:spcPts val="400"/>
              </a:spcAft>
              <a:defRPr sz="2000" b="1">
                <a:solidFill>
                  <a:srgbClr val="FFFFFF"/>
                </a:solidFill>
                <a:latin typeface="Pretendard"/>
              </a:defRPr>
            </a:pPr>
            <a:r>
              <a:rPr dirty="0"/>
              <a:t>   10초 </a:t>
            </a:r>
            <a:r>
              <a:rPr dirty="0" err="1"/>
              <a:t>안에</a:t>
            </a:r>
            <a:r>
              <a:rPr dirty="0"/>
              <a:t> </a:t>
            </a:r>
            <a:r>
              <a:rPr dirty="0" err="1"/>
              <a:t>맥락</a:t>
            </a:r>
            <a:r>
              <a:rPr dirty="0"/>
              <a:t> </a:t>
            </a:r>
            <a:r>
              <a:rPr dirty="0" err="1"/>
              <a:t>알려줘</a:t>
            </a:r>
            <a:r>
              <a:rPr dirty="0"/>
              <a:t>"</a:t>
            </a:r>
          </a:p>
          <a:p>
            <a:pPr>
              <a:lnSpc>
                <a:spcPts val="15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Pretendard"/>
              </a:defRPr>
            </a:pPr>
            <a:endParaRPr dirty="0"/>
          </a:p>
          <a:p>
            <a:pPr>
              <a:lnSpc>
                <a:spcPts val="3000"/>
              </a:lnSpc>
              <a:spcAft>
                <a:spcPts val="400"/>
              </a:spcAft>
              <a:defRPr sz="2000" b="0">
                <a:solidFill>
                  <a:srgbClr val="D1D5DB"/>
                </a:solidFill>
                <a:latin typeface="Pretendard"/>
              </a:defRPr>
            </a:pPr>
            <a:r>
              <a:rPr dirty="0"/>
              <a:t>AI Native </a:t>
            </a:r>
            <a:r>
              <a:rPr dirty="0" err="1"/>
              <a:t>시대에는</a:t>
            </a:r>
            <a:endParaRPr dirty="0"/>
          </a:p>
          <a:p>
            <a:pPr>
              <a:lnSpc>
                <a:spcPts val="3300"/>
              </a:lnSpc>
              <a:spcAft>
                <a:spcPts val="400"/>
              </a:spcAft>
              <a:defRPr sz="2200" b="1">
                <a:solidFill>
                  <a:srgbClr val="FFFFFF"/>
                </a:solidFill>
                <a:latin typeface="Pretendard"/>
              </a:defRPr>
            </a:pPr>
            <a:r>
              <a:rPr dirty="0"/>
              <a:t>이 </a:t>
            </a:r>
            <a:r>
              <a:rPr dirty="0" err="1"/>
              <a:t>기능이</a:t>
            </a:r>
            <a:r>
              <a:rPr dirty="0"/>
              <a:t> </a:t>
            </a:r>
            <a:r>
              <a:rPr dirty="0" err="1"/>
              <a:t>개인의</a:t>
            </a:r>
            <a:r>
              <a:rPr dirty="0"/>
              <a:t> </a:t>
            </a:r>
            <a:r>
              <a:rPr dirty="0" err="1"/>
              <a:t>기본</a:t>
            </a:r>
            <a:r>
              <a:rPr dirty="0"/>
              <a:t> </a:t>
            </a:r>
            <a:r>
              <a:rPr dirty="0" err="1"/>
              <a:t>장비가</a:t>
            </a:r>
            <a:r>
              <a:rPr dirty="0"/>
              <a:t> </a:t>
            </a:r>
            <a:r>
              <a:rPr dirty="0" err="1"/>
              <a:t>된다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400" b="1">
                <a:solidFill>
                  <a:srgbClr val="A78BFA"/>
                </a:solidFill>
                <a:latin typeface="Inter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0584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40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Pretendard"/>
              </a:defRPr>
            </a:pPr>
            <a:r>
              <a:t>Physical Interaction의 시대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13716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118872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  <a:spcAft>
                <a:spcPts val="400"/>
              </a:spcAft>
              <a:defRPr sz="2400" b="1">
                <a:solidFill>
                  <a:srgbClr val="FFFFFF"/>
                </a:solidFill>
                <a:latin typeface="Pretendard"/>
              </a:defRPr>
            </a:pPr>
            <a:r>
              <a:rPr dirty="0" err="1"/>
              <a:t>모두가</a:t>
            </a:r>
            <a:r>
              <a:rPr dirty="0"/>
              <a:t> </a:t>
            </a:r>
            <a:r>
              <a:rPr dirty="0" err="1"/>
              <a:t>빌더</a:t>
            </a:r>
            <a:r>
              <a:rPr dirty="0"/>
              <a:t> → </a:t>
            </a:r>
            <a:r>
              <a:rPr dirty="0" err="1"/>
              <a:t>모두가</a:t>
            </a:r>
            <a:r>
              <a:rPr dirty="0"/>
              <a:t> </a:t>
            </a:r>
            <a:r>
              <a:rPr dirty="0" err="1"/>
              <a:t>세일즈맨이</a:t>
            </a:r>
            <a:r>
              <a:rPr dirty="0"/>
              <a:t> </a:t>
            </a:r>
            <a:r>
              <a:rPr dirty="0" err="1"/>
              <a:t>되어야</a:t>
            </a:r>
            <a:r>
              <a:rPr dirty="0"/>
              <a:t> </a:t>
            </a:r>
            <a:r>
              <a:rPr dirty="0" err="1"/>
              <a:t>한다</a:t>
            </a:r>
            <a:endParaRPr dirty="0"/>
          </a:p>
          <a:p>
            <a:pPr>
              <a:lnSpc>
                <a:spcPts val="15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Pretendard"/>
              </a:defRPr>
            </a:pPr>
            <a:endParaRPr dirty="0"/>
          </a:p>
          <a:p>
            <a:pPr>
              <a:lnSpc>
                <a:spcPts val="3000"/>
              </a:lnSpc>
              <a:spcAft>
                <a:spcPts val="400"/>
              </a:spcAft>
              <a:defRPr sz="2000" b="0">
                <a:solidFill>
                  <a:srgbClr val="D1D5DB"/>
                </a:solidFill>
                <a:latin typeface="Pretendard"/>
              </a:defRPr>
            </a:pPr>
            <a:r>
              <a:rPr dirty="0" err="1"/>
              <a:t>AI가</a:t>
            </a:r>
            <a:r>
              <a:rPr dirty="0"/>
              <a:t> </a:t>
            </a:r>
            <a:r>
              <a:rPr dirty="0" err="1"/>
              <a:t>만들고</a:t>
            </a:r>
            <a:r>
              <a:rPr dirty="0"/>
              <a:t>, </a:t>
            </a:r>
            <a:r>
              <a:rPr dirty="0" err="1"/>
              <a:t>AI가</a:t>
            </a:r>
            <a:r>
              <a:rPr dirty="0"/>
              <a:t> </a:t>
            </a:r>
            <a:r>
              <a:rPr dirty="0" err="1"/>
              <a:t>마케팅하는</a:t>
            </a:r>
            <a:r>
              <a:rPr dirty="0"/>
              <a:t> </a:t>
            </a:r>
            <a:r>
              <a:rPr dirty="0" err="1"/>
              <a:t>세상에서</a:t>
            </a:r>
            <a:endParaRPr dirty="0"/>
          </a:p>
          <a:p>
            <a:pPr>
              <a:lnSpc>
                <a:spcPts val="3000"/>
              </a:lnSpc>
              <a:spcAft>
                <a:spcPts val="400"/>
              </a:spcAft>
              <a:defRPr sz="2000" b="0">
                <a:solidFill>
                  <a:srgbClr val="FFFFFF"/>
                </a:solidFill>
                <a:latin typeface="Pretendard"/>
              </a:defRPr>
            </a:pPr>
            <a:r>
              <a:rPr dirty="0"/>
              <a:t>B2B </a:t>
            </a:r>
            <a:r>
              <a:rPr dirty="0" err="1"/>
              <a:t>복합제품의</a:t>
            </a:r>
            <a:r>
              <a:rPr dirty="0"/>
              <a:t> </a:t>
            </a:r>
            <a:r>
              <a:rPr dirty="0" err="1"/>
              <a:t>신뢰는</a:t>
            </a:r>
            <a:r>
              <a:rPr dirty="0"/>
              <a:t> </a:t>
            </a:r>
            <a:r>
              <a:rPr dirty="0" err="1"/>
              <a:t>결국</a:t>
            </a:r>
            <a:r>
              <a:rPr dirty="0"/>
              <a:t> </a:t>
            </a:r>
            <a:r>
              <a:rPr dirty="0" err="1"/>
              <a:t>사람</a:t>
            </a:r>
            <a:r>
              <a:rPr dirty="0"/>
              <a:t> 간 </a:t>
            </a:r>
            <a:r>
              <a:rPr dirty="0" err="1"/>
              <a:t>대면에서</a:t>
            </a:r>
            <a:r>
              <a:rPr dirty="0"/>
              <a:t> </a:t>
            </a:r>
            <a:r>
              <a:rPr dirty="0" err="1"/>
              <a:t>나온다</a:t>
            </a:r>
            <a:r>
              <a:rPr dirty="0"/>
              <a:t>.</a:t>
            </a:r>
          </a:p>
          <a:p>
            <a:pPr>
              <a:lnSpc>
                <a:spcPts val="15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Pretendard"/>
              </a:defRPr>
            </a:pPr>
            <a:endParaRPr dirty="0"/>
          </a:p>
          <a:p>
            <a:pPr>
              <a:lnSpc>
                <a:spcPts val="3600"/>
              </a:lnSpc>
              <a:spcAft>
                <a:spcPts val="400"/>
              </a:spcAft>
              <a:defRPr sz="2400" b="1">
                <a:solidFill>
                  <a:srgbClr val="A78BFA"/>
                </a:solidFill>
                <a:latin typeface="Pretendard"/>
              </a:defRPr>
            </a:pPr>
            <a:r>
              <a:rPr dirty="0" err="1"/>
              <a:t>개인의</a:t>
            </a:r>
            <a:r>
              <a:rPr dirty="0"/>
              <a:t> </a:t>
            </a:r>
            <a:r>
              <a:rPr dirty="0" err="1"/>
              <a:t>기억력</a:t>
            </a:r>
            <a:r>
              <a:rPr dirty="0"/>
              <a:t> · </a:t>
            </a:r>
            <a:r>
              <a:rPr dirty="0" err="1"/>
              <a:t>학습력이</a:t>
            </a:r>
            <a:r>
              <a:rPr dirty="0"/>
              <a:t> </a:t>
            </a:r>
            <a:r>
              <a:rPr dirty="0" err="1"/>
              <a:t>병목이</a:t>
            </a:r>
            <a:r>
              <a:rPr dirty="0"/>
              <a:t> </a:t>
            </a:r>
            <a:r>
              <a:rPr dirty="0" err="1"/>
              <a:t>된다</a:t>
            </a:r>
            <a:r>
              <a:rPr dirty="0"/>
              <a:t>.</a:t>
            </a:r>
          </a:p>
          <a:p>
            <a:pPr>
              <a:lnSpc>
                <a:spcPts val="15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Pretendard"/>
              </a:defRPr>
            </a:pPr>
            <a:endParaRPr dirty="0"/>
          </a:p>
          <a:p>
            <a:pPr>
              <a:lnSpc>
                <a:spcPts val="3000"/>
              </a:lnSpc>
              <a:spcAft>
                <a:spcPts val="400"/>
              </a:spcAft>
              <a:defRPr sz="2000" b="0">
                <a:solidFill>
                  <a:srgbClr val="D1D5DB"/>
                </a:solidFill>
                <a:latin typeface="Pretendard"/>
              </a:defRPr>
            </a:pPr>
            <a:r>
              <a:rPr dirty="0" err="1"/>
              <a:t>맥락을</a:t>
            </a:r>
            <a:r>
              <a:rPr dirty="0"/>
              <a:t> </a:t>
            </a:r>
            <a:r>
              <a:rPr dirty="0" err="1"/>
              <a:t>놓치는</a:t>
            </a:r>
            <a:r>
              <a:rPr dirty="0"/>
              <a:t> </a:t>
            </a:r>
            <a:r>
              <a:rPr dirty="0" err="1"/>
              <a:t>것에</a:t>
            </a:r>
            <a:r>
              <a:rPr dirty="0"/>
              <a:t> </a:t>
            </a:r>
            <a:r>
              <a:rPr dirty="0" err="1"/>
              <a:t>대한</a:t>
            </a:r>
            <a:r>
              <a:rPr dirty="0"/>
              <a:t> </a:t>
            </a:r>
            <a:r>
              <a:rPr dirty="0" err="1"/>
              <a:t>답답함</a:t>
            </a:r>
            <a:r>
              <a:rPr dirty="0"/>
              <a:t>,</a:t>
            </a:r>
          </a:p>
          <a:p>
            <a:pPr>
              <a:lnSpc>
                <a:spcPts val="3000"/>
              </a:lnSpc>
              <a:spcAft>
                <a:spcPts val="400"/>
              </a:spcAft>
              <a:defRPr sz="2000" b="0">
                <a:solidFill>
                  <a:srgbClr val="D1D5DB"/>
                </a:solidFill>
                <a:latin typeface="Pretendard"/>
              </a:defRPr>
            </a:pPr>
            <a:r>
              <a:rPr dirty="0" err="1"/>
              <a:t>조직에서</a:t>
            </a:r>
            <a:r>
              <a:rPr dirty="0"/>
              <a:t> </a:t>
            </a:r>
            <a:r>
              <a:rPr dirty="0" err="1"/>
              <a:t>무능력하다는</a:t>
            </a:r>
            <a:r>
              <a:rPr dirty="0"/>
              <a:t> </a:t>
            </a:r>
            <a:r>
              <a:rPr dirty="0" err="1"/>
              <a:t>평가를</a:t>
            </a:r>
            <a:r>
              <a:rPr dirty="0"/>
              <a:t> </a:t>
            </a:r>
            <a:r>
              <a:rPr dirty="0" err="1"/>
              <a:t>받는</a:t>
            </a:r>
            <a:r>
              <a:rPr dirty="0"/>
              <a:t> </a:t>
            </a:r>
            <a:r>
              <a:rPr dirty="0" err="1"/>
              <a:t>것에</a:t>
            </a:r>
            <a:r>
              <a:rPr dirty="0"/>
              <a:t> </a:t>
            </a:r>
            <a:r>
              <a:rPr dirty="0" err="1"/>
              <a:t>대한</a:t>
            </a:r>
            <a:r>
              <a:rPr dirty="0"/>
              <a:t> </a:t>
            </a:r>
            <a:r>
              <a:rPr dirty="0" err="1"/>
              <a:t>고통</a:t>
            </a:r>
            <a:r>
              <a:rPr dirty="0"/>
              <a:t>.</a:t>
            </a:r>
          </a:p>
          <a:p>
            <a:pPr>
              <a:lnSpc>
                <a:spcPts val="3300"/>
              </a:lnSpc>
              <a:spcAft>
                <a:spcPts val="400"/>
              </a:spcAft>
              <a:defRPr sz="2200" b="1">
                <a:solidFill>
                  <a:srgbClr val="FFFFFF"/>
                </a:solidFill>
                <a:latin typeface="Pretendard"/>
              </a:defRPr>
            </a:pPr>
            <a:r>
              <a:rPr dirty="0"/>
              <a:t>이 </a:t>
            </a:r>
            <a:r>
              <a:rPr dirty="0" err="1"/>
              <a:t>페인은</a:t>
            </a:r>
            <a:r>
              <a:rPr dirty="0"/>
              <a:t> AI </a:t>
            </a:r>
            <a:r>
              <a:rPr dirty="0" err="1"/>
              <a:t>시대가</a:t>
            </a:r>
            <a:r>
              <a:rPr dirty="0"/>
              <a:t> </a:t>
            </a:r>
            <a:r>
              <a:rPr dirty="0" err="1"/>
              <a:t>깊어질수록</a:t>
            </a:r>
            <a:r>
              <a:rPr dirty="0"/>
              <a:t> </a:t>
            </a:r>
            <a:r>
              <a:rPr dirty="0" err="1"/>
              <a:t>계속</a:t>
            </a:r>
            <a:r>
              <a:rPr dirty="0"/>
              <a:t> </a:t>
            </a:r>
            <a:r>
              <a:rPr dirty="0" err="1"/>
              <a:t>커진다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DF7176-E955-53B3-6FAD-1DC6CBDBD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41D934-5049-9BAB-F85E-07264E065697}"/>
              </a:ext>
            </a:extLst>
          </p:cNvPr>
          <p:cNvSpPr txBox="1"/>
          <p:nvPr/>
        </p:nvSpPr>
        <p:spPr>
          <a:xfrm>
            <a:off x="137160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400" b="1">
                <a:solidFill>
                  <a:srgbClr val="4ADE80"/>
                </a:solidFill>
                <a:latin typeface="Inter"/>
              </a:defRPr>
            </a:pPr>
            <a:r>
              <a:t>08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86D91E-A8E3-B34B-8989-7E2441658488}"/>
              </a:ext>
            </a:extLst>
          </p:cNvPr>
          <p:cNvSpPr txBox="1"/>
          <p:nvPr/>
        </p:nvSpPr>
        <p:spPr>
          <a:xfrm>
            <a:off x="1371600" y="100584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000"/>
              </a:lnSpc>
              <a:spcAft>
                <a:spcPts val="0"/>
              </a:spcAft>
              <a:defRPr sz="4000" b="1">
                <a:solidFill>
                  <a:srgbClr val="FFFFFF"/>
                </a:solidFill>
                <a:latin typeface="Pretendard"/>
              </a:defRPr>
            </a:pPr>
            <a:r>
              <a:t>Zipi — 지피지기면 백전백승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C0B754-7C5B-A881-A513-DF468C2146DA}"/>
              </a:ext>
            </a:extLst>
          </p:cNvPr>
          <p:cNvSpPr/>
          <p:nvPr/>
        </p:nvSpPr>
        <p:spPr>
          <a:xfrm>
            <a:off x="1371600" y="1828800"/>
            <a:ext cx="13716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792B67-F017-41E4-F43C-975984DA6E81}"/>
              </a:ext>
            </a:extLst>
          </p:cNvPr>
          <p:cNvSpPr txBox="1"/>
          <p:nvPr/>
        </p:nvSpPr>
        <p:spPr>
          <a:xfrm>
            <a:off x="1371600" y="228600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200"/>
              </a:lnSpc>
              <a:spcAft>
                <a:spcPts val="0"/>
              </a:spcAft>
              <a:defRPr sz="2800" b="1">
                <a:solidFill>
                  <a:srgbClr val="4ADE80"/>
                </a:solidFill>
                <a:latin typeface="Pretendard"/>
              </a:defRPr>
            </a:pPr>
            <a:r>
              <a:t>고객을 탭 한 번 → 10초 안에 맥락 파악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55839F-FC87-C79D-5A21-C691BB4BFEDE}"/>
              </a:ext>
            </a:extLst>
          </p:cNvPr>
          <p:cNvSpPr txBox="1"/>
          <p:nvPr/>
        </p:nvSpPr>
        <p:spPr>
          <a:xfrm>
            <a:off x="1371600" y="32918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200"/>
              </a:lnSpc>
              <a:spcAft>
                <a:spcPts val="0"/>
              </a:spcAft>
              <a:defRPr sz="4800" b="1">
                <a:solidFill>
                  <a:srgbClr val="60A5FA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A894C7-3D3A-2DA4-4C61-E91011001564}"/>
              </a:ext>
            </a:extLst>
          </p:cNvPr>
          <p:cNvSpPr txBox="1"/>
          <p:nvPr/>
        </p:nvSpPr>
        <p:spPr>
          <a:xfrm>
            <a:off x="2286000" y="33832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300"/>
              </a:lnSpc>
              <a:spcAft>
                <a:spcPts val="400"/>
              </a:spcAft>
              <a:defRPr sz="2200" b="1">
                <a:solidFill>
                  <a:srgbClr val="FFFFFF"/>
                </a:solidFill>
                <a:latin typeface="Pretendard"/>
              </a:defRPr>
            </a:pPr>
            <a:r>
              <a:t>마지막 대화 요약</a:t>
            </a:r>
          </a:p>
          <a:p>
            <a:pPr>
              <a:lnSpc>
                <a:spcPts val="2550"/>
              </a:lnSpc>
              <a:spcAft>
                <a:spcPts val="400"/>
              </a:spcAft>
              <a:defRPr sz="1700" b="0">
                <a:solidFill>
                  <a:srgbClr val="9CA3AF"/>
                </a:solidFill>
                <a:latin typeface="Pretendard"/>
              </a:defRPr>
            </a:pPr>
            <a:r>
              <a:t>고객 대화 + 사내 회의 내용 통합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B1F86B-6FAF-66B2-9F19-917533F11B33}"/>
              </a:ext>
            </a:extLst>
          </p:cNvPr>
          <p:cNvSpPr txBox="1"/>
          <p:nvPr/>
        </p:nvSpPr>
        <p:spPr>
          <a:xfrm>
            <a:off x="5943600" y="32918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200"/>
              </a:lnSpc>
              <a:spcAft>
                <a:spcPts val="0"/>
              </a:spcAft>
              <a:defRPr sz="4800" b="1">
                <a:solidFill>
                  <a:srgbClr val="60A5FA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EB2077-4364-77B7-7F90-6859DBADB1D9}"/>
              </a:ext>
            </a:extLst>
          </p:cNvPr>
          <p:cNvSpPr txBox="1"/>
          <p:nvPr/>
        </p:nvSpPr>
        <p:spPr>
          <a:xfrm>
            <a:off x="6858000" y="33832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300"/>
              </a:lnSpc>
              <a:spcAft>
                <a:spcPts val="400"/>
              </a:spcAft>
              <a:defRPr sz="2200" b="1">
                <a:solidFill>
                  <a:srgbClr val="FFFFFF"/>
                </a:solidFill>
                <a:latin typeface="Pretendard"/>
              </a:defRPr>
            </a:pPr>
            <a:r>
              <a:t>예상 질문 + 추천 답변</a:t>
            </a:r>
          </a:p>
          <a:p>
            <a:pPr>
              <a:lnSpc>
                <a:spcPts val="2550"/>
              </a:lnSpc>
              <a:spcAft>
                <a:spcPts val="400"/>
              </a:spcAft>
              <a:defRPr sz="1700" b="0">
                <a:solidFill>
                  <a:srgbClr val="9CA3AF"/>
                </a:solidFill>
                <a:latin typeface="Pretendard"/>
              </a:defRPr>
            </a:pPr>
            <a:r>
              <a:t>다음 미팅에서 나올 질문을 미리 준비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DBC2B0-C08A-BDB9-DF66-150DF3180181}"/>
              </a:ext>
            </a:extLst>
          </p:cNvPr>
          <p:cNvSpPr txBox="1"/>
          <p:nvPr/>
        </p:nvSpPr>
        <p:spPr>
          <a:xfrm>
            <a:off x="10515600" y="32918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200"/>
              </a:lnSpc>
              <a:spcAft>
                <a:spcPts val="0"/>
              </a:spcAft>
              <a:defRPr sz="4800" b="1">
                <a:solidFill>
                  <a:srgbClr val="60A5FA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1E607B-D9F1-299F-DAAE-1C03DD127AAB}"/>
              </a:ext>
            </a:extLst>
          </p:cNvPr>
          <p:cNvSpPr txBox="1"/>
          <p:nvPr/>
        </p:nvSpPr>
        <p:spPr>
          <a:xfrm>
            <a:off x="11430000" y="33832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300"/>
              </a:lnSpc>
              <a:spcAft>
                <a:spcPts val="400"/>
              </a:spcAft>
              <a:defRPr sz="2200" b="1">
                <a:solidFill>
                  <a:srgbClr val="FFFFFF"/>
                </a:solidFill>
                <a:latin typeface="Pretendard"/>
              </a:defRPr>
            </a:pPr>
            <a:r>
              <a:t>가격/조건 히스토리</a:t>
            </a:r>
          </a:p>
          <a:p>
            <a:pPr>
              <a:lnSpc>
                <a:spcPts val="2550"/>
              </a:lnSpc>
              <a:spcAft>
                <a:spcPts val="400"/>
              </a:spcAft>
              <a:defRPr sz="1700" b="0">
                <a:solidFill>
                  <a:srgbClr val="9CA3AF"/>
                </a:solidFill>
                <a:latin typeface="Pretendard"/>
              </a:defRPr>
            </a:pPr>
            <a:r>
              <a:t>누가 언제 뭐라고 했는지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D96FF6-F1BE-B36D-6B17-CAD353FAEE25}"/>
              </a:ext>
            </a:extLst>
          </p:cNvPr>
          <p:cNvSpPr txBox="1"/>
          <p:nvPr/>
        </p:nvSpPr>
        <p:spPr>
          <a:xfrm>
            <a:off x="1371600" y="5303520"/>
            <a:ext cx="11887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spcAft>
                <a:spcPts val="400"/>
              </a:spcAft>
              <a:defRPr sz="2000" b="0">
                <a:solidFill>
                  <a:srgbClr val="D1D5DB"/>
                </a:solidFill>
                <a:latin typeface="Pretendard"/>
              </a:defRPr>
            </a:pPr>
            <a:r>
              <a:rPr dirty="0" err="1"/>
              <a:t>녹음</a:t>
            </a:r>
            <a:r>
              <a:rPr dirty="0"/>
              <a:t> </a:t>
            </a:r>
            <a:r>
              <a:rPr dirty="0" err="1"/>
              <a:t>업로드</a:t>
            </a:r>
            <a:r>
              <a:rPr dirty="0"/>
              <a:t> →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분석</a:t>
            </a:r>
            <a:r>
              <a:rPr dirty="0"/>
              <a:t> → </a:t>
            </a:r>
            <a:r>
              <a:rPr dirty="0" err="1"/>
              <a:t>즉시</a:t>
            </a:r>
            <a:r>
              <a:rPr dirty="0"/>
              <a:t> </a:t>
            </a:r>
            <a:r>
              <a:rPr dirty="0" err="1"/>
              <a:t>브리핑</a:t>
            </a:r>
            <a:endParaRPr dirty="0"/>
          </a:p>
          <a:p>
            <a:pPr>
              <a:lnSpc>
                <a:spcPts val="15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Pretendard"/>
              </a:defRPr>
            </a:pPr>
            <a:endParaRPr dirty="0"/>
          </a:p>
          <a:p>
            <a:pPr>
              <a:lnSpc>
                <a:spcPts val="4200"/>
              </a:lnSpc>
              <a:spcAft>
                <a:spcPts val="400"/>
              </a:spcAft>
              <a:defRPr sz="2800" b="1">
                <a:solidFill>
                  <a:srgbClr val="FFFFFF"/>
                </a:solidFill>
                <a:latin typeface="Pretendard"/>
              </a:defRPr>
            </a:pPr>
            <a:r>
              <a:rPr dirty="0"/>
              <a:t>"</a:t>
            </a:r>
            <a:r>
              <a:rPr dirty="0" err="1"/>
              <a:t>저번에</a:t>
            </a:r>
            <a:r>
              <a:rPr dirty="0"/>
              <a:t> </a:t>
            </a:r>
            <a:r>
              <a:rPr dirty="0" err="1"/>
              <a:t>뭐라고</a:t>
            </a:r>
            <a:r>
              <a:rPr dirty="0"/>
              <a:t> </a:t>
            </a:r>
            <a:r>
              <a:rPr dirty="0" err="1"/>
              <a:t>했더라</a:t>
            </a:r>
            <a:r>
              <a:rPr dirty="0"/>
              <a:t>?" 를 </a:t>
            </a:r>
            <a:r>
              <a:rPr dirty="0" err="1"/>
              <a:t>없앤다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70288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400" b="1">
                <a:solidFill>
                  <a:srgbClr val="4ADE80"/>
                </a:solidFill>
                <a:latin typeface="Inter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05840"/>
            <a:ext cx="11887200" cy="804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000"/>
              </a:lnSpc>
              <a:spcAft>
                <a:spcPts val="0"/>
              </a:spcAft>
              <a:defRPr sz="4000" b="1">
                <a:solidFill>
                  <a:srgbClr val="FFFFFF"/>
                </a:solidFill>
                <a:latin typeface="Pretendard"/>
              </a:defRPr>
            </a:pPr>
            <a:r>
              <a:rPr lang="ko-KR" altLang="en-US" dirty="0"/>
              <a:t>제품 </a:t>
            </a:r>
            <a:r>
              <a:rPr lang="en-US" altLang="ko-KR" dirty="0"/>
              <a:t>- 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13716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15740" y="80987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200"/>
              </a:lnSpc>
              <a:spcAft>
                <a:spcPts val="0"/>
              </a:spcAft>
              <a:defRPr sz="4800" b="1">
                <a:solidFill>
                  <a:srgbClr val="60A5FA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4320" y="752938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200"/>
              </a:lnSpc>
              <a:spcAft>
                <a:spcPts val="0"/>
              </a:spcAft>
              <a:defRPr sz="4800" b="1">
                <a:solidFill>
                  <a:srgbClr val="60A5FA"/>
                </a:solidFill>
                <a:latin typeface="Inter"/>
              </a:defRPr>
            </a:pPr>
            <a:r>
              <a:rPr dirty="0"/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76760" y="8077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200"/>
              </a:lnSpc>
              <a:spcAft>
                <a:spcPts val="0"/>
              </a:spcAft>
              <a:defRPr sz="4800" b="1">
                <a:solidFill>
                  <a:srgbClr val="60A5FA"/>
                </a:solidFill>
                <a:latin typeface="Inter"/>
              </a:defRPr>
            </a:pPr>
            <a:r>
              <a:rPr dirty="0"/>
              <a:t>3</a:t>
            </a:r>
          </a:p>
        </p:txBody>
      </p:sp>
      <p:pic>
        <p:nvPicPr>
          <p:cNvPr id="14" name="그림 13" descr="The image shows a smartphone screen displaying a Korean language application interface with options to upload a conversation, choose a type of meeting, and select a recording file.&#10;&#10;AI 생성 콘텐츠는 정확하지 않을 수 있습니다.">
            <a:extLst>
              <a:ext uri="{FF2B5EF4-FFF2-40B4-BE49-F238E27FC236}">
                <a16:creationId xmlns:a16="http://schemas.microsoft.com/office/drawing/2014/main" id="{6457285C-741B-DC04-CBDB-89F99D1C8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9900" y="1648777"/>
            <a:ext cx="3238500" cy="6116003"/>
          </a:xfrm>
          <a:prstGeom prst="rect">
            <a:avLst/>
          </a:prstGeom>
        </p:spPr>
      </p:pic>
      <p:pic>
        <p:nvPicPr>
          <p:cNvPr id="16" name="그림 15" descr="The image displays a mobile app interface, showcasing a list of product categories, including IT, automotive, electronics, and more, with various dates and names of brands.&#10;&#10;AI 생성 콘텐츠는 정확하지 않을 수 있습니다.">
            <a:extLst>
              <a:ext uri="{FF2B5EF4-FFF2-40B4-BE49-F238E27FC236}">
                <a16:creationId xmlns:a16="http://schemas.microsoft.com/office/drawing/2014/main" id="{0EBC12C2-E845-CCDD-2400-81F9732EF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619740"/>
            <a:ext cx="2915431" cy="605460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400" b="1">
                <a:solidFill>
                  <a:srgbClr val="FBBF24"/>
                </a:solidFill>
                <a:latin typeface="Inter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0584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40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Pretendard"/>
              </a:defRPr>
            </a:pPr>
            <a:r>
              <a:t>How We Built It — Ralph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137160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286000"/>
            <a:ext cx="640080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228600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  <a:spcAft>
                <a:spcPts val="400"/>
              </a:spcAft>
              <a:defRPr sz="2400" b="1">
                <a:solidFill>
                  <a:srgbClr val="FBBF24"/>
                </a:solidFill>
                <a:latin typeface="Pretendard"/>
              </a:defRPr>
            </a:pPr>
            <a:r>
              <a:t>가재 옷을 한 번도 안 입었습니다.</a:t>
            </a:r>
          </a:p>
          <a:p>
            <a:pPr>
              <a:lnSpc>
                <a:spcPts val="15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Pretendard"/>
              </a:defRPr>
            </a:pPr>
            <a:endParaRPr/>
          </a:p>
          <a:p>
            <a:pPr>
              <a:lnSpc>
                <a:spcPts val="3000"/>
              </a:lnSpc>
              <a:spcAft>
                <a:spcPts val="400"/>
              </a:spcAft>
              <a:defRPr sz="2000" b="0">
                <a:solidFill>
                  <a:srgbClr val="FFFFFF"/>
                </a:solidFill>
                <a:latin typeface="Pretendard"/>
              </a:defRPr>
            </a:pPr>
            <a:r>
              <a:t>해커톤 내내 Ralph Loop만 돌렸습니다.</a:t>
            </a:r>
          </a:p>
          <a:p>
            <a:pPr>
              <a:lnSpc>
                <a:spcPts val="2700"/>
              </a:lnSpc>
              <a:spcAft>
                <a:spcPts val="400"/>
              </a:spcAft>
              <a:defRPr sz="1800" b="0">
                <a:solidFill>
                  <a:srgbClr val="D1D5DB"/>
                </a:solidFill>
                <a:latin typeface="Pretendard"/>
              </a:defRPr>
            </a:pPr>
            <a:r>
              <a:t>AI 에이전트가 TDD로 코드를 짜고,</a:t>
            </a:r>
          </a:p>
          <a:p>
            <a:pPr>
              <a:lnSpc>
                <a:spcPts val="2700"/>
              </a:lnSpc>
              <a:spcAft>
                <a:spcPts val="400"/>
              </a:spcAft>
              <a:defRPr sz="1800" b="0">
                <a:solidFill>
                  <a:srgbClr val="D1D5DB"/>
                </a:solidFill>
                <a:latin typeface="Pretendard"/>
              </a:defRPr>
            </a:pPr>
            <a:r>
              <a:t>테스트하고, 커밋하고, 다음 마일스톤으로.</a:t>
            </a:r>
          </a:p>
          <a:p>
            <a:pPr>
              <a:lnSpc>
                <a:spcPts val="15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Pretendard"/>
              </a:defRPr>
            </a:pPr>
            <a:endParaRPr/>
          </a:p>
          <a:p>
            <a:pPr>
              <a:lnSpc>
                <a:spcPts val="3000"/>
              </a:lnSpc>
              <a:spcAft>
                <a:spcPts val="400"/>
              </a:spcAft>
              <a:defRPr sz="2000" b="0">
                <a:solidFill>
                  <a:srgbClr val="FFFFFF"/>
                </a:solidFill>
                <a:latin typeface="Pretendard"/>
              </a:defRPr>
            </a:pPr>
            <a:r>
              <a:t>20시간 돌리려고 했는데,</a:t>
            </a:r>
          </a:p>
          <a:p>
            <a:pPr>
              <a:lnSpc>
                <a:spcPts val="3300"/>
              </a:lnSpc>
              <a:spcAft>
                <a:spcPts val="400"/>
              </a:spcAft>
              <a:defRPr sz="2200" b="1">
                <a:solidFill>
                  <a:srgbClr val="F87171"/>
                </a:solidFill>
                <a:latin typeface="Pretendard"/>
              </a:defRPr>
            </a:pPr>
            <a:r>
              <a:t>시간이 짧아서 아쉬웠습니다.</a:t>
            </a:r>
          </a:p>
          <a:p>
            <a:pPr>
              <a:lnSpc>
                <a:spcPts val="15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Pretendard"/>
              </a:defRPr>
            </a:pPr>
            <a:endParaRPr/>
          </a:p>
          <a:p>
            <a:pPr>
              <a:lnSpc>
                <a:spcPts val="3600"/>
              </a:lnSpc>
              <a:spcAft>
                <a:spcPts val="400"/>
              </a:spcAft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이 앱은 그만큼 진심입니다.</a:t>
            </a:r>
          </a:p>
          <a:p>
            <a:pPr>
              <a:lnSpc>
                <a:spcPts val="2700"/>
              </a:lnSpc>
              <a:spcAft>
                <a:spcPts val="400"/>
              </a:spcAft>
              <a:defRPr sz="1800" b="0">
                <a:solidFill>
                  <a:srgbClr val="9CA3AF"/>
                </a:solidFill>
                <a:latin typeface="Pretendard"/>
              </a:defRPr>
            </a:pPr>
            <a:r>
              <a:t>제가 직접 겪은 문제이기 때문입니다.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4DB127-CE43-0DD5-FE4A-9ECD23C11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8F3284-C2F5-CCAC-F0E7-C0EC87B487BB}"/>
              </a:ext>
            </a:extLst>
          </p:cNvPr>
          <p:cNvSpPr txBox="1"/>
          <p:nvPr/>
        </p:nvSpPr>
        <p:spPr>
          <a:xfrm>
            <a:off x="137160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400" b="1">
                <a:solidFill>
                  <a:srgbClr val="FBBF24"/>
                </a:solidFill>
                <a:latin typeface="Inter"/>
              </a:defRPr>
            </a:pPr>
            <a:r>
              <a:t>09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D471F3-D4F6-E6A5-DE85-D5BD62FEBD3D}"/>
              </a:ext>
            </a:extLst>
          </p:cNvPr>
          <p:cNvSpPr txBox="1"/>
          <p:nvPr/>
        </p:nvSpPr>
        <p:spPr>
          <a:xfrm>
            <a:off x="1371600" y="100584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40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Pretendard"/>
              </a:defRPr>
            </a:pPr>
            <a:r>
              <a:t>How We Built It — Ralph Loop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AF9286-1943-D348-36F4-2A538995DAA6}"/>
              </a:ext>
            </a:extLst>
          </p:cNvPr>
          <p:cNvSpPr/>
          <p:nvPr/>
        </p:nvSpPr>
        <p:spPr>
          <a:xfrm>
            <a:off x="1371600" y="1828800"/>
            <a:ext cx="137160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DAB57D-4D86-FAF7-E6E6-EE8A0CFBEB1E}"/>
              </a:ext>
            </a:extLst>
          </p:cNvPr>
          <p:cNvSpPr txBox="1"/>
          <p:nvPr/>
        </p:nvSpPr>
        <p:spPr>
          <a:xfrm>
            <a:off x="9959340" y="2377440"/>
            <a:ext cx="4533900" cy="3972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  <a:spcAft>
                <a:spcPts val="400"/>
              </a:spcAft>
              <a:defRPr sz="2400" b="1">
                <a:solidFill>
                  <a:srgbClr val="FBBF24"/>
                </a:solidFill>
                <a:latin typeface="Pretendard"/>
              </a:defRPr>
            </a:pPr>
            <a:r>
              <a:rPr dirty="0" err="1"/>
              <a:t>가재</a:t>
            </a:r>
            <a:r>
              <a:rPr dirty="0"/>
              <a:t> </a:t>
            </a:r>
            <a:r>
              <a:rPr dirty="0" err="1"/>
              <a:t>옷을</a:t>
            </a:r>
            <a:r>
              <a:rPr dirty="0"/>
              <a:t> 한 </a:t>
            </a:r>
            <a:r>
              <a:rPr dirty="0" err="1"/>
              <a:t>번도</a:t>
            </a:r>
            <a:r>
              <a:rPr dirty="0"/>
              <a:t> 안 </a:t>
            </a:r>
            <a:r>
              <a:rPr dirty="0" err="1"/>
              <a:t>입었습니다</a:t>
            </a:r>
            <a:r>
              <a:rPr dirty="0"/>
              <a:t>.</a:t>
            </a:r>
          </a:p>
          <a:p>
            <a:pPr>
              <a:lnSpc>
                <a:spcPts val="15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Pretendard"/>
              </a:defRPr>
            </a:pPr>
            <a:endParaRPr dirty="0"/>
          </a:p>
          <a:p>
            <a:pPr>
              <a:lnSpc>
                <a:spcPts val="3000"/>
              </a:lnSpc>
              <a:spcAft>
                <a:spcPts val="400"/>
              </a:spcAft>
              <a:defRPr sz="2000" b="0">
                <a:solidFill>
                  <a:srgbClr val="FFFFFF"/>
                </a:solidFill>
                <a:latin typeface="Pretendard"/>
              </a:defRPr>
            </a:pPr>
            <a:r>
              <a:rPr lang="ko-KR" altLang="en-US" dirty="0"/>
              <a:t>처음부터 </a:t>
            </a:r>
            <a:r>
              <a:rPr lang="en-US" altLang="ko-KR" dirty="0"/>
              <a:t>Android Studio </a:t>
            </a:r>
            <a:r>
              <a:rPr lang="ko-KR" altLang="en-US" dirty="0"/>
              <a:t>로 진행했습니다</a:t>
            </a:r>
            <a:r>
              <a:rPr lang="en-US" altLang="ko-KR" dirty="0"/>
              <a:t>. </a:t>
            </a:r>
            <a:r>
              <a:rPr lang="ko-KR" altLang="en-US" dirty="0" err="1"/>
              <a:t>세일즈맨들은안드로이드</a:t>
            </a:r>
            <a:r>
              <a:rPr lang="ko-KR" altLang="en-US" dirty="0"/>
              <a:t> 앱을 쓰는 사람이 많고</a:t>
            </a:r>
            <a:r>
              <a:rPr lang="en-US" altLang="ko-KR" dirty="0"/>
              <a:t>, </a:t>
            </a:r>
            <a:r>
              <a:rPr lang="ko-KR" altLang="en-US" dirty="0"/>
              <a:t>운전하느라 웹을 볼 여력이 없다고 생각했고</a:t>
            </a:r>
            <a:r>
              <a:rPr lang="en-US" altLang="ko-KR" dirty="0"/>
              <a:t>, </a:t>
            </a:r>
            <a:r>
              <a:rPr lang="ko-KR" altLang="en-US" dirty="0"/>
              <a:t>녹음 파일에 접근하기 위해선 </a:t>
            </a:r>
            <a:r>
              <a:rPr lang="en-US" altLang="ko-KR" dirty="0" err="1"/>
              <a:t>apk</a:t>
            </a:r>
            <a:r>
              <a:rPr lang="en-US" altLang="ko-KR" dirty="0"/>
              <a:t> </a:t>
            </a:r>
            <a:r>
              <a:rPr lang="ko-KR" altLang="en-US" dirty="0"/>
              <a:t>파일로 들어가야 하기 때문입니다</a:t>
            </a:r>
            <a:r>
              <a:rPr lang="en-US" altLang="ko-KR" dirty="0"/>
              <a:t>.</a:t>
            </a:r>
            <a:endParaRPr dirty="0"/>
          </a:p>
        </p:txBody>
      </p:sp>
      <p:pic>
        <p:nvPicPr>
          <p:cNvPr id="8" name="그림 7" descr="The image contains a textual interface of a software development environment, featuring a terminal window displaying a series of commands, file names, and project references, alongside a screenshot of a mobile app, a sound file, and a list of tasks with checkboxes for a project's milestones.&#10;&#10;AI 생성 콘텐츠는 정확하지 않을 수 있습니다.">
            <a:extLst>
              <a:ext uri="{FF2B5EF4-FFF2-40B4-BE49-F238E27FC236}">
                <a16:creationId xmlns:a16="http://schemas.microsoft.com/office/drawing/2014/main" id="{61E28169-0E9E-1AF1-36A3-E24F3685A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817" y="2118360"/>
            <a:ext cx="8705120" cy="521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677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0" y="3017520"/>
            <a:ext cx="182880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3291840"/>
            <a:ext cx="11887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600"/>
              </a:lnSpc>
              <a:spcAft>
                <a:spcPts val="0"/>
              </a:spcAft>
              <a:defRPr sz="4400" b="1">
                <a:solidFill>
                  <a:srgbClr val="FFFFFF"/>
                </a:solidFill>
                <a:latin typeface="Pretendard"/>
              </a:defRPr>
            </a:pPr>
            <a:r>
              <a:t>세일즈의 그 단 한 순간을 지킨다.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84632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2400" b="1">
                <a:solidFill>
                  <a:srgbClr val="60A5FA"/>
                </a:solidFill>
                <a:latin typeface="Pretendard"/>
              </a:defRPr>
            </a:pPr>
            <a:r>
              <a:t>Zipi  |  知彼知己 百戰百勝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789</Words>
  <Application>Microsoft Office PowerPoint</Application>
  <PresentationFormat>사용자 지정</PresentationFormat>
  <Paragraphs>181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sunhoo Kim</cp:lastModifiedBy>
  <cp:revision>3</cp:revision>
  <dcterms:created xsi:type="dcterms:W3CDTF">2013-01-27T09:14:16Z</dcterms:created>
  <dcterms:modified xsi:type="dcterms:W3CDTF">2026-03-29T08:54:12Z</dcterms:modified>
  <cp:category/>
</cp:coreProperties>
</file>